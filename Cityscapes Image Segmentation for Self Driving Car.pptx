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p:regular r:id="rId35"/>
      <p:bold r:id="rId36"/>
      <p:italic r:id="rId37"/>
      <p:boldItalic r:id="rId38"/>
    </p:embeddedFont>
    <p:embeddedFont>
      <p:font typeface="Montserrat"/>
      <p:regular r:id="rId39"/>
      <p:bold r:id="rId40"/>
      <p:italic r:id="rId41"/>
      <p:boldItalic r:id="rId42"/>
    </p:embeddedFont>
    <p:embeddedFont>
      <p:font typeface="La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7" roundtripDataSignature="AMtx7mgj2ycKd2V6llNfzRdjQVThQTV5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986B6E-438F-426F-83E9-423C8B15F6CA}">
  <a:tblStyle styleId="{C9986B6E-438F-426F-83E9-423C8B15F6C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4.xml"/><Relationship Id="rId42" Type="http://schemas.openxmlformats.org/officeDocument/2006/relationships/font" Target="fonts/Montserrat-boldItalic.fntdata"/><Relationship Id="rId41" Type="http://schemas.openxmlformats.org/officeDocument/2006/relationships/font" Target="fonts/Montserrat-italic.fntdata"/><Relationship Id="rId22" Type="http://schemas.openxmlformats.org/officeDocument/2006/relationships/slide" Target="slides/slide16.xml"/><Relationship Id="rId44" Type="http://schemas.openxmlformats.org/officeDocument/2006/relationships/font" Target="fonts/Lato-bold.fntdata"/><Relationship Id="rId21" Type="http://schemas.openxmlformats.org/officeDocument/2006/relationships/slide" Target="slides/slide15.xml"/><Relationship Id="rId43" Type="http://schemas.openxmlformats.org/officeDocument/2006/relationships/font" Target="fonts/Lato-regular.fntdata"/><Relationship Id="rId24" Type="http://schemas.openxmlformats.org/officeDocument/2006/relationships/slide" Target="slides/slide18.xml"/><Relationship Id="rId46" Type="http://schemas.openxmlformats.org/officeDocument/2006/relationships/font" Target="fonts/Lato-boldItalic.fntdata"/><Relationship Id="rId23" Type="http://schemas.openxmlformats.org/officeDocument/2006/relationships/slide" Target="slides/slide17.xml"/><Relationship Id="rId45"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italic.fntdata"/><Relationship Id="rId14" Type="http://schemas.openxmlformats.org/officeDocument/2006/relationships/slide" Target="slides/slide8.xml"/><Relationship Id="rId36" Type="http://schemas.openxmlformats.org/officeDocument/2006/relationships/font" Target="fonts/Roboto-bold.fntdata"/><Relationship Id="rId17" Type="http://schemas.openxmlformats.org/officeDocument/2006/relationships/slide" Target="slides/slide11.xml"/><Relationship Id="rId39" Type="http://schemas.openxmlformats.org/officeDocument/2006/relationships/font" Target="fonts/Montserrat-regular.fntdata"/><Relationship Id="rId16" Type="http://schemas.openxmlformats.org/officeDocument/2006/relationships/slide" Target="slides/slide10.xml"/><Relationship Id="rId38" Type="http://schemas.openxmlformats.org/officeDocument/2006/relationships/font" Target="fonts/Robo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Tambah cover gambar (optional)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6a7e06870b_5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6a7e06870b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6dee23fd8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6dee23fd8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Tambah detail mengenai ukuran gambar (ex: rata2 size (common di-info-kan) atau scatter plot (width x height), picture type / extension), sample roboflow DS check feature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6dee23fd8d_0_7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6dee23fd8d_0_7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6dee23fd8d_0_8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6dee23fd8d_0_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6dee23fd8d_0_8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6dee23fd8d_0_8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6dee23fd8d_0_8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6dee23fd8d_0_8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6f3a8756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6f3a8756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df97a491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36df97a491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6dee23fd8d_0_7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6dee23fd8d_0_7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6dee23fd8d_0_8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36dee23fd8d_0_8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6dee23fd8d_0_8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g36dee23fd8d_0_8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6dee23fd8d_0_9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36dee23fd8d_0_9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6f49f2c906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36f49f2c906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6dee23fd8d_0_9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36dee23fd8d_0_9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Tambahkan summary kesimpulan singkat / hasil analisis (1-2 point)</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6dee23fd8d_0_9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36dee23fd8d_0_9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6dee23fd8d_0_9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36dee23fd8d_0_9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dee23fd8d_0_9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g36dee23fd8d_0_9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6dee23fd8d_0_9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36dee23fd8d_0_9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3"/>
          <p:cNvSpPr/>
          <p:nvPr/>
        </p:nvSpPr>
        <p:spPr>
          <a:xfrm rot="5400000">
            <a:off x="7500300" y="505"/>
            <a:ext cx="1643700" cy="1643700"/>
          </a:xfrm>
          <a:prstGeom prst="diagStripe">
            <a:avLst>
              <a:gd fmla="val 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13"/>
          <p:cNvGrpSpPr/>
          <p:nvPr/>
        </p:nvGrpSpPr>
        <p:grpSpPr>
          <a:xfrm>
            <a:off x="0" y="490"/>
            <a:ext cx="5153705" cy="5134399"/>
            <a:chOff x="0" y="75"/>
            <a:chExt cx="5153705" cy="5152950"/>
          </a:xfrm>
        </p:grpSpPr>
        <p:sp>
          <p:nvSpPr>
            <p:cNvPr id="12" name="Google Shape;12;p13"/>
            <p:cNvSpPr/>
            <p:nvPr/>
          </p:nvSpPr>
          <p:spPr>
            <a:xfrm rot="-5400000">
              <a:off x="455" y="-225"/>
              <a:ext cx="5152800" cy="5153700"/>
            </a:xfrm>
            <a:prstGeom prst="diagStripe">
              <a:avLst>
                <a:gd fmla="val 50000"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3"/>
            <p:cNvSpPr/>
            <p:nvPr/>
          </p:nvSpPr>
          <p:spPr>
            <a:xfrm rot="-5400000">
              <a:off x="150" y="1145825"/>
              <a:ext cx="3996600" cy="3996900"/>
            </a:xfrm>
            <a:prstGeom prst="diagStripe">
              <a:avLst>
                <a:gd fmla="val 58774" name="adj"/>
              </a:avLst>
            </a:prstGeom>
            <a:solidFill>
              <a:schemeClr val="lt1">
                <a:alpha val="235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3"/>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3"/>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13"/>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17" name="Google Shape;17;p13"/>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8" name="Google Shape;1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 name="Shape 19"/>
        <p:cNvGrpSpPr/>
        <p:nvPr/>
      </p:nvGrpSpPr>
      <p:grpSpPr>
        <a:xfrm>
          <a:off x="0" y="0"/>
          <a:ext cx="0" cy="0"/>
          <a:chOff x="0" y="0"/>
          <a:chExt cx="0" cy="0"/>
        </a:xfrm>
      </p:grpSpPr>
      <p:grpSp>
        <p:nvGrpSpPr>
          <p:cNvPr id="20" name="Google Shape;20;p14"/>
          <p:cNvGrpSpPr/>
          <p:nvPr/>
        </p:nvGrpSpPr>
        <p:grpSpPr>
          <a:xfrm>
            <a:off x="0" y="381001"/>
            <a:ext cx="1037850" cy="1016288"/>
            <a:chOff x="0" y="381001"/>
            <a:chExt cx="1037850" cy="1016288"/>
          </a:xfrm>
        </p:grpSpPr>
        <p:sp>
          <p:nvSpPr>
            <p:cNvPr id="21" name="Google Shape;21;p1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14"/>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 name="Google Shape;24;p14"/>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 name="Google Shape;2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grpSp>
        <p:nvGrpSpPr>
          <p:cNvPr id="27" name="Google Shape;27;p15"/>
          <p:cNvGrpSpPr/>
          <p:nvPr/>
        </p:nvGrpSpPr>
        <p:grpSpPr>
          <a:xfrm>
            <a:off x="0" y="381001"/>
            <a:ext cx="1037850" cy="1016288"/>
            <a:chOff x="0" y="381001"/>
            <a:chExt cx="1037850" cy="1016288"/>
          </a:xfrm>
        </p:grpSpPr>
        <p:sp>
          <p:nvSpPr>
            <p:cNvPr id="28" name="Google Shape;28;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1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2" name="Google Shape;3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grpSp>
        <p:nvGrpSpPr>
          <p:cNvPr id="34" name="Google Shape;34;p16"/>
          <p:cNvGrpSpPr/>
          <p:nvPr/>
        </p:nvGrpSpPr>
        <p:grpSpPr>
          <a:xfrm>
            <a:off x="4406400" y="0"/>
            <a:ext cx="4737600" cy="5143065"/>
            <a:chOff x="4406400" y="0"/>
            <a:chExt cx="4737600" cy="5143065"/>
          </a:xfrm>
        </p:grpSpPr>
        <p:sp>
          <p:nvSpPr>
            <p:cNvPr id="35" name="Google Shape;35;p16"/>
            <p:cNvSpPr/>
            <p:nvPr/>
          </p:nvSpPr>
          <p:spPr>
            <a:xfrm rot="5400000">
              <a:off x="4408200" y="-1800"/>
              <a:ext cx="4734000" cy="4737600"/>
            </a:xfrm>
            <a:prstGeom prst="diagStripe">
              <a:avLst>
                <a:gd fmla="val 49469"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6"/>
            <p:cNvSpPr/>
            <p:nvPr/>
          </p:nvSpPr>
          <p:spPr>
            <a:xfrm rot="5400000">
              <a:off x="4841125" y="5700"/>
              <a:ext cx="4298100" cy="4286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p:nvPr/>
          </p:nvSpPr>
          <p:spPr>
            <a:xfrm rot="-5400000">
              <a:off x="5618399" y="123646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6"/>
            <p:cNvSpPr/>
            <p:nvPr/>
          </p:nvSpPr>
          <p:spPr>
            <a:xfrm flipH="1">
              <a:off x="5849857" y="144395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6"/>
            <p:cNvSpPr/>
            <p:nvPr/>
          </p:nvSpPr>
          <p:spPr>
            <a:xfrm rot="-5400000">
              <a:off x="5987081" y="24694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6"/>
            <p:cNvSpPr/>
            <p:nvPr/>
          </p:nvSpPr>
          <p:spPr>
            <a:xfrm flipH="1">
              <a:off x="6222115" y="267695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6"/>
            <p:cNvSpPr/>
            <p:nvPr/>
          </p:nvSpPr>
          <p:spPr>
            <a:xfrm rot="-5400000">
              <a:off x="6675341" y="186201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6"/>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6"/>
            <p:cNvSpPr/>
            <p:nvPr/>
          </p:nvSpPr>
          <p:spPr>
            <a:xfrm rot="-5400000">
              <a:off x="6861141" y="247781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6"/>
            <p:cNvSpPr/>
            <p:nvPr/>
          </p:nvSpPr>
          <p:spPr>
            <a:xfrm flipH="1">
              <a:off x="7965266" y="269296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6"/>
            <p:cNvSpPr/>
            <p:nvPr/>
          </p:nvSpPr>
          <p:spPr>
            <a:xfrm flipH="1">
              <a:off x="8145082" y="330875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6"/>
            <p:cNvSpPr/>
            <p:nvPr/>
          </p:nvSpPr>
          <p:spPr>
            <a:xfrm rot="-5400000">
              <a:off x="7047599" y="309501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6"/>
            <p:cNvSpPr/>
            <p:nvPr/>
          </p:nvSpPr>
          <p:spPr>
            <a:xfrm flipH="1">
              <a:off x="7276649" y="3302502"/>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6"/>
            <p:cNvSpPr/>
            <p:nvPr/>
          </p:nvSpPr>
          <p:spPr>
            <a:xfrm flipH="1">
              <a:off x="7462448" y="3918294"/>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6"/>
            <p:cNvSpPr/>
            <p:nvPr/>
          </p:nvSpPr>
          <p:spPr>
            <a:xfrm rot="-5400000">
              <a:off x="8102491" y="371847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6"/>
            <p:cNvSpPr/>
            <p:nvPr/>
          </p:nvSpPr>
          <p:spPr>
            <a:xfrm flipH="1">
              <a:off x="8334533" y="392596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6"/>
            <p:cNvSpPr/>
            <p:nvPr/>
          </p:nvSpPr>
          <p:spPr>
            <a:xfrm rot="-5400000">
              <a:off x="8288290" y="43342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16"/>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 name="Google Shape;5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grpSp>
        <p:nvGrpSpPr>
          <p:cNvPr id="56" name="Google Shape;56;p17"/>
          <p:cNvGrpSpPr/>
          <p:nvPr/>
        </p:nvGrpSpPr>
        <p:grpSpPr>
          <a:xfrm>
            <a:off x="0" y="381001"/>
            <a:ext cx="1037850" cy="1016288"/>
            <a:chOff x="0" y="381001"/>
            <a:chExt cx="1037850" cy="1016288"/>
          </a:xfrm>
        </p:grpSpPr>
        <p:sp>
          <p:nvSpPr>
            <p:cNvPr id="57" name="Google Shape;57;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1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0" name="Google Shape;60;p17"/>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1" name="Google Shape;61;p17"/>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2" name="Google Shape;6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grpSp>
        <p:nvGrpSpPr>
          <p:cNvPr id="64" name="Google Shape;64;p18"/>
          <p:cNvGrpSpPr/>
          <p:nvPr/>
        </p:nvGrpSpPr>
        <p:grpSpPr>
          <a:xfrm>
            <a:off x="0" y="381001"/>
            <a:ext cx="1037850" cy="1016288"/>
            <a:chOff x="0" y="381001"/>
            <a:chExt cx="1037850" cy="1016288"/>
          </a:xfrm>
        </p:grpSpPr>
        <p:sp>
          <p:nvSpPr>
            <p:cNvPr id="65" name="Google Shape;65;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 name="Google Shape;67;p1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8" name="Google Shape;6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19"/>
          <p:cNvGrpSpPr/>
          <p:nvPr/>
        </p:nvGrpSpPr>
        <p:grpSpPr>
          <a:xfrm>
            <a:off x="4406400" y="0"/>
            <a:ext cx="4737600" cy="5143500"/>
            <a:chOff x="4406400" y="0"/>
            <a:chExt cx="4737600" cy="5143500"/>
          </a:xfrm>
        </p:grpSpPr>
        <p:sp>
          <p:nvSpPr>
            <p:cNvPr id="71" name="Google Shape;71;p19"/>
            <p:cNvSpPr/>
            <p:nvPr/>
          </p:nvSpPr>
          <p:spPr>
            <a:xfrm rot="5400000">
              <a:off x="4407900" y="-1500"/>
              <a:ext cx="4734600" cy="4737600"/>
            </a:xfrm>
            <a:prstGeom prst="diagStripe">
              <a:avLst>
                <a:gd fmla="val 49469"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9"/>
            <p:cNvSpPr/>
            <p:nvPr/>
          </p:nvSpPr>
          <p:spPr>
            <a:xfrm rot="5400000">
              <a:off x="4840825" y="6000"/>
              <a:ext cx="4298700" cy="4286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9"/>
            <p:cNvSpPr/>
            <p:nvPr/>
          </p:nvSpPr>
          <p:spPr>
            <a:xfrm rot="-5400000">
              <a:off x="5618399" y="1236641"/>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9"/>
            <p:cNvSpPr/>
            <p:nvPr/>
          </p:nvSpPr>
          <p:spPr>
            <a:xfrm flipH="1">
              <a:off x="5849857" y="144407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9"/>
            <p:cNvSpPr/>
            <p:nvPr/>
          </p:nvSpPr>
          <p:spPr>
            <a:xfrm rot="-5400000">
              <a:off x="5987081" y="246974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9"/>
            <p:cNvSpPr/>
            <p:nvPr/>
          </p:nvSpPr>
          <p:spPr>
            <a:xfrm flipH="1">
              <a:off x="6222115" y="2677179"/>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9"/>
            <p:cNvSpPr/>
            <p:nvPr/>
          </p:nvSpPr>
          <p:spPr>
            <a:xfrm rot="-5400000">
              <a:off x="6675341" y="1862244"/>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9"/>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9"/>
            <p:cNvSpPr/>
            <p:nvPr/>
          </p:nvSpPr>
          <p:spPr>
            <a:xfrm rot="-5400000">
              <a:off x="6861141" y="247808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9"/>
            <p:cNvSpPr/>
            <p:nvPr/>
          </p:nvSpPr>
          <p:spPr>
            <a:xfrm flipH="1">
              <a:off x="7965266" y="2693191"/>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9"/>
            <p:cNvSpPr/>
            <p:nvPr/>
          </p:nvSpPr>
          <p:spPr>
            <a:xfrm flipH="1">
              <a:off x="8145082" y="330903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9"/>
            <p:cNvSpPr/>
            <p:nvPr/>
          </p:nvSpPr>
          <p:spPr>
            <a:xfrm rot="-5400000">
              <a:off x="7047599" y="309534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9"/>
            <p:cNvSpPr/>
            <p:nvPr/>
          </p:nvSpPr>
          <p:spPr>
            <a:xfrm flipH="1">
              <a:off x="7276649" y="3302781"/>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9"/>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9"/>
            <p:cNvSpPr/>
            <p:nvPr/>
          </p:nvSpPr>
          <p:spPr>
            <a:xfrm flipH="1">
              <a:off x="7462448" y="391862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9"/>
            <p:cNvSpPr/>
            <p:nvPr/>
          </p:nvSpPr>
          <p:spPr>
            <a:xfrm rot="-5400000">
              <a:off x="8102491" y="371885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9"/>
            <p:cNvSpPr/>
            <p:nvPr/>
          </p:nvSpPr>
          <p:spPr>
            <a:xfrm flipH="1">
              <a:off x="8334533" y="3926292"/>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9"/>
            <p:cNvSpPr/>
            <p:nvPr/>
          </p:nvSpPr>
          <p:spPr>
            <a:xfrm rot="-5400000">
              <a:off x="8288290" y="433470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 name="Google Shape;89;p19"/>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20"/>
          <p:cNvGrpSpPr/>
          <p:nvPr/>
        </p:nvGrpSpPr>
        <p:grpSpPr>
          <a:xfrm>
            <a:off x="0" y="381001"/>
            <a:ext cx="1037850" cy="1016288"/>
            <a:chOff x="0" y="381001"/>
            <a:chExt cx="1037850" cy="1016288"/>
          </a:xfrm>
        </p:grpSpPr>
        <p:sp>
          <p:nvSpPr>
            <p:cNvPr id="93" name="Google Shape;93;p2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20"/>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6" name="Google Shape;96;p20"/>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97" name="Google Shape;97;p20"/>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8" name="Google Shape;9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21"/>
          <p:cNvGrpSpPr/>
          <p:nvPr/>
        </p:nvGrpSpPr>
        <p:grpSpPr>
          <a:xfrm>
            <a:off x="0" y="4128572"/>
            <a:ext cx="698925" cy="684657"/>
            <a:chOff x="0" y="3785672"/>
            <a:chExt cx="698925" cy="684657"/>
          </a:xfrm>
        </p:grpSpPr>
        <p:sp>
          <p:nvSpPr>
            <p:cNvPr id="101" name="Google Shape;101;p21"/>
            <p:cNvSpPr/>
            <p:nvPr/>
          </p:nvSpPr>
          <p:spPr>
            <a:xfrm rot="-5400000">
              <a:off x="0" y="3785672"/>
              <a:ext cx="544800" cy="544800"/>
            </a:xfrm>
            <a:prstGeom prst="diagStripe">
              <a:avLst>
                <a:gd fmla="val 50000" name="adj"/>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1"/>
            <p:cNvSpPr/>
            <p:nvPr/>
          </p:nvSpPr>
          <p:spPr>
            <a:xfrm flipH="1">
              <a:off x="154125" y="3925529"/>
              <a:ext cx="544800" cy="544800"/>
            </a:xfrm>
            <a:prstGeom prst="diagStripe">
              <a:avLst>
                <a:gd fmla="val 50000" name="adj"/>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21"/>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4" name="Google Shape;10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22"/>
          <p:cNvGrpSpPr/>
          <p:nvPr/>
        </p:nvGrpSpPr>
        <p:grpSpPr>
          <a:xfrm>
            <a:off x="4406400" y="0"/>
            <a:ext cx="4737600" cy="5143065"/>
            <a:chOff x="4406400" y="0"/>
            <a:chExt cx="4737600" cy="5143065"/>
          </a:xfrm>
        </p:grpSpPr>
        <p:sp>
          <p:nvSpPr>
            <p:cNvPr id="107" name="Google Shape;107;p22"/>
            <p:cNvSpPr/>
            <p:nvPr/>
          </p:nvSpPr>
          <p:spPr>
            <a:xfrm rot="5400000">
              <a:off x="4408200" y="-1800"/>
              <a:ext cx="4734000" cy="4737600"/>
            </a:xfrm>
            <a:prstGeom prst="diagStripe">
              <a:avLst>
                <a:gd fmla="val 49469"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2"/>
            <p:cNvSpPr/>
            <p:nvPr/>
          </p:nvSpPr>
          <p:spPr>
            <a:xfrm rot="5400000">
              <a:off x="4841125" y="5700"/>
              <a:ext cx="4298100" cy="4286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2"/>
            <p:cNvSpPr/>
            <p:nvPr/>
          </p:nvSpPr>
          <p:spPr>
            <a:xfrm rot="-5400000">
              <a:off x="5618399" y="123646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2"/>
            <p:cNvSpPr/>
            <p:nvPr/>
          </p:nvSpPr>
          <p:spPr>
            <a:xfrm flipH="1">
              <a:off x="5849857" y="144395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2"/>
            <p:cNvSpPr/>
            <p:nvPr/>
          </p:nvSpPr>
          <p:spPr>
            <a:xfrm rot="-5400000">
              <a:off x="5987081" y="24694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2"/>
            <p:cNvSpPr/>
            <p:nvPr/>
          </p:nvSpPr>
          <p:spPr>
            <a:xfrm flipH="1">
              <a:off x="6222115" y="267695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2"/>
            <p:cNvSpPr/>
            <p:nvPr/>
          </p:nvSpPr>
          <p:spPr>
            <a:xfrm rot="-5400000">
              <a:off x="6675341" y="186201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2"/>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2"/>
            <p:cNvSpPr/>
            <p:nvPr/>
          </p:nvSpPr>
          <p:spPr>
            <a:xfrm rot="-5400000">
              <a:off x="6861141" y="247781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2"/>
            <p:cNvSpPr/>
            <p:nvPr/>
          </p:nvSpPr>
          <p:spPr>
            <a:xfrm flipH="1">
              <a:off x="7965266" y="269296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2"/>
            <p:cNvSpPr/>
            <p:nvPr/>
          </p:nvSpPr>
          <p:spPr>
            <a:xfrm flipH="1">
              <a:off x="8145082" y="330875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2"/>
            <p:cNvSpPr/>
            <p:nvPr/>
          </p:nvSpPr>
          <p:spPr>
            <a:xfrm rot="-5400000">
              <a:off x="7047599" y="309501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2"/>
            <p:cNvSpPr/>
            <p:nvPr/>
          </p:nvSpPr>
          <p:spPr>
            <a:xfrm flipH="1">
              <a:off x="7276649" y="3302502"/>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2"/>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2"/>
            <p:cNvSpPr/>
            <p:nvPr/>
          </p:nvSpPr>
          <p:spPr>
            <a:xfrm flipH="1">
              <a:off x="7462448" y="3918294"/>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2"/>
            <p:cNvSpPr/>
            <p:nvPr/>
          </p:nvSpPr>
          <p:spPr>
            <a:xfrm rot="-5400000">
              <a:off x="8102491" y="371847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2"/>
            <p:cNvSpPr/>
            <p:nvPr/>
          </p:nvSpPr>
          <p:spPr>
            <a:xfrm flipH="1">
              <a:off x="8334533" y="392596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2"/>
            <p:cNvSpPr/>
            <p:nvPr/>
          </p:nvSpPr>
          <p:spPr>
            <a:xfrm rot="-5400000">
              <a:off x="8288290" y="43342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5" name="Google Shape;125;p22"/>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26" name="Google Shape;126;p22"/>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7" name="Google Shape;12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7" name="Google Shape;7;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8" name="Google Shape;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cityscapes-dataset.com" TargetMode="External"/><Relationship Id="rId4" Type="http://schemas.openxmlformats.org/officeDocument/2006/relationships/image" Target="../media/image1.png"/><Relationship Id="rId5" Type="http://schemas.openxmlformats.org/officeDocument/2006/relationships/image" Target="../media/image25.png"/><Relationship Id="rId6" Type="http://schemas.openxmlformats.org/officeDocument/2006/relationships/image" Target="../media/image16.png"/><Relationship Id="rId7" Type="http://schemas.openxmlformats.org/officeDocument/2006/relationships/hyperlink" Target="https://drive.google.com/drive/folders/1cHsmb9fLaIch003fqUrAaI9-tf4od33S?usp=drive_lin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15.png"/><Relationship Id="rId6"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docs.pytorch.org/docs/stable/generated/torch.optim.Adam.html" TargetMode="External"/><Relationship Id="rId4" Type="http://schemas.openxmlformats.org/officeDocument/2006/relationships/hyperlink" Target="https://docs.pytorch.org/docs/stable/generated/torch.optim.lr_scheduler.ReduceLROnPlateau.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33.png"/><Relationship Id="rId6" Type="http://schemas.openxmlformats.org/officeDocument/2006/relationships/image" Target="../media/image26.png"/><Relationship Id="rId7" Type="http://schemas.openxmlformats.org/officeDocument/2006/relationships/image" Target="../media/image31.png"/><Relationship Id="rId8"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36.png"/><Relationship Id="rId7" Type="http://schemas.openxmlformats.org/officeDocument/2006/relationships/image" Target="../media/image29.png"/><Relationship Id="rId8"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9.png"/><Relationship Id="rId4" Type="http://schemas.openxmlformats.org/officeDocument/2006/relationships/image" Target="../media/image37.png"/><Relationship Id="rId5"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
          <p:cNvSpPr txBox="1"/>
          <p:nvPr>
            <p:ph type="ctrTitle"/>
          </p:nvPr>
        </p:nvSpPr>
        <p:spPr>
          <a:xfrm>
            <a:off x="1761525" y="725350"/>
            <a:ext cx="7014900" cy="1578900"/>
          </a:xfrm>
          <a:prstGeom prst="rect">
            <a:avLst/>
          </a:prstGeom>
          <a:noFill/>
          <a:ln>
            <a:noFill/>
          </a:ln>
        </p:spPr>
        <p:txBody>
          <a:bodyPr anchorCtr="0" anchor="t" bIns="91425" lIns="91425" spcFirstLastPara="1" rIns="91425" wrap="square" tIns="91425">
            <a:normAutofit fontScale="90000"/>
          </a:bodyPr>
          <a:lstStyle/>
          <a:p>
            <a:pPr indent="0" lvl="0" marL="0" rtl="0" algn="r">
              <a:lnSpc>
                <a:spcPct val="100000"/>
              </a:lnSpc>
              <a:spcBef>
                <a:spcPts val="0"/>
              </a:spcBef>
              <a:spcAft>
                <a:spcPts val="0"/>
              </a:spcAft>
              <a:buSzPct val="88888"/>
              <a:buNone/>
            </a:pPr>
            <a:r>
              <a:rPr lang="en" sz="4500"/>
              <a:t>Cityscapes Semantic Segmentation </a:t>
            </a:r>
            <a:endParaRPr sz="4500"/>
          </a:p>
          <a:p>
            <a:pPr indent="0" lvl="0" marL="0" rtl="0" algn="r">
              <a:lnSpc>
                <a:spcPct val="100000"/>
              </a:lnSpc>
              <a:spcBef>
                <a:spcPts val="0"/>
              </a:spcBef>
              <a:spcAft>
                <a:spcPts val="0"/>
              </a:spcAft>
              <a:buSzPct val="88888"/>
              <a:buNone/>
            </a:pPr>
            <a:r>
              <a:rPr lang="en" sz="4500"/>
              <a:t>for</a:t>
            </a:r>
            <a:r>
              <a:rPr lang="en" sz="4500"/>
              <a:t> Self Driving Car</a:t>
            </a:r>
            <a:endParaRPr sz="4500"/>
          </a:p>
        </p:txBody>
      </p:sp>
      <p:sp>
        <p:nvSpPr>
          <p:cNvPr id="135" name="Google Shape;135;p1"/>
          <p:cNvSpPr txBox="1"/>
          <p:nvPr>
            <p:ph idx="1" type="subTitle"/>
          </p:nvPr>
        </p:nvSpPr>
        <p:spPr>
          <a:xfrm>
            <a:off x="5160350" y="2814750"/>
            <a:ext cx="3470700" cy="5061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1300"/>
              <a:buNone/>
            </a:pPr>
            <a:r>
              <a:rPr lang="en" sz="2000"/>
              <a:t>VisionX</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
          <p:cNvSpPr txBox="1"/>
          <p:nvPr>
            <p:ph type="title"/>
          </p:nvPr>
        </p:nvSpPr>
        <p:spPr>
          <a:xfrm>
            <a:off x="1322950" y="521075"/>
            <a:ext cx="3798900" cy="965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Team Members</a:t>
            </a:r>
            <a:endParaRPr/>
          </a:p>
        </p:txBody>
      </p:sp>
      <p:sp>
        <p:nvSpPr>
          <p:cNvPr id="141" name="Google Shape;141;p2"/>
          <p:cNvSpPr txBox="1"/>
          <p:nvPr>
            <p:ph idx="1" type="body"/>
          </p:nvPr>
        </p:nvSpPr>
        <p:spPr>
          <a:xfrm>
            <a:off x="1128342" y="1716821"/>
            <a:ext cx="4484400" cy="24159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sz="1800"/>
              <a:t>Maruli Tyson Hamonangan Sianipar</a:t>
            </a:r>
            <a:endParaRPr sz="1800"/>
          </a:p>
          <a:p>
            <a:pPr indent="-311150" lvl="0" marL="457200" rtl="0" algn="l">
              <a:lnSpc>
                <a:spcPct val="115000"/>
              </a:lnSpc>
              <a:spcBef>
                <a:spcPts val="0"/>
              </a:spcBef>
              <a:spcAft>
                <a:spcPts val="0"/>
              </a:spcAft>
              <a:buSzPts val="1300"/>
              <a:buChar char="●"/>
            </a:pPr>
            <a:r>
              <a:rPr lang="en" sz="1800"/>
              <a:t>Budi Kawira</a:t>
            </a:r>
            <a:endParaRPr/>
          </a:p>
          <a:p>
            <a:pPr indent="-311150" lvl="0" marL="457200" rtl="0" algn="l">
              <a:lnSpc>
                <a:spcPct val="115000"/>
              </a:lnSpc>
              <a:spcBef>
                <a:spcPts val="0"/>
              </a:spcBef>
              <a:spcAft>
                <a:spcPts val="0"/>
              </a:spcAft>
              <a:buSzPts val="1300"/>
              <a:buChar char="●"/>
            </a:pPr>
            <a:r>
              <a:rPr lang="en" sz="1800"/>
              <a:t>Dana Putra Kembara</a:t>
            </a:r>
            <a:endParaRPr/>
          </a:p>
          <a:p>
            <a:pPr indent="-311150" lvl="0" marL="457200" rtl="0" algn="l">
              <a:lnSpc>
                <a:spcPct val="115000"/>
              </a:lnSpc>
              <a:spcBef>
                <a:spcPts val="0"/>
              </a:spcBef>
              <a:spcAft>
                <a:spcPts val="0"/>
              </a:spcAft>
              <a:buSzPts val="1300"/>
              <a:buChar char="●"/>
            </a:pPr>
            <a:r>
              <a:rPr lang="en" sz="1800"/>
              <a:t>Efenus Valentino S</a:t>
            </a:r>
            <a:endParaRPr/>
          </a:p>
          <a:p>
            <a:pPr indent="-311150" lvl="0" marL="457200" rtl="0" algn="l">
              <a:lnSpc>
                <a:spcPct val="115000"/>
              </a:lnSpc>
              <a:spcBef>
                <a:spcPts val="0"/>
              </a:spcBef>
              <a:spcAft>
                <a:spcPts val="0"/>
              </a:spcAft>
              <a:buSzPts val="1300"/>
              <a:buChar char="●"/>
            </a:pPr>
            <a:r>
              <a:rPr lang="en" sz="1800"/>
              <a:t>Mustafa</a:t>
            </a:r>
            <a:endParaRPr/>
          </a:p>
        </p:txBody>
      </p:sp>
      <p:pic>
        <p:nvPicPr>
          <p:cNvPr id="142" name="Google Shape;142;p2"/>
          <p:cNvPicPr preferRelativeResize="0"/>
          <p:nvPr/>
        </p:nvPicPr>
        <p:blipFill rotWithShape="1">
          <a:blip r:embed="rId3">
            <a:alphaModFix/>
          </a:blip>
          <a:srcRect b="0" l="0" r="0" t="0"/>
          <a:stretch/>
        </p:blipFill>
        <p:spPr>
          <a:xfrm>
            <a:off x="5919381" y="2508100"/>
            <a:ext cx="2054967" cy="70603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
          <p:cNvSpPr txBox="1"/>
          <p:nvPr>
            <p:ph type="title"/>
          </p:nvPr>
        </p:nvSpPr>
        <p:spPr>
          <a:xfrm>
            <a:off x="1246575" y="279175"/>
            <a:ext cx="7038900" cy="636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n" sz="2800"/>
              <a:t>Background</a:t>
            </a:r>
            <a:endParaRPr b="1" sz="2800"/>
          </a:p>
        </p:txBody>
      </p:sp>
      <p:sp>
        <p:nvSpPr>
          <p:cNvPr id="148" name="Google Shape;148;p3"/>
          <p:cNvSpPr txBox="1"/>
          <p:nvPr/>
        </p:nvSpPr>
        <p:spPr>
          <a:xfrm>
            <a:off x="1433325" y="978825"/>
            <a:ext cx="3385800" cy="1740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b="1" lang="en">
                <a:solidFill>
                  <a:schemeClr val="lt1"/>
                </a:solidFill>
                <a:latin typeface="Lato"/>
                <a:ea typeface="Lato"/>
                <a:cs typeface="Lato"/>
                <a:sym typeface="Lato"/>
              </a:rPr>
              <a:t>Semantic segmentation</a:t>
            </a:r>
            <a:r>
              <a:rPr lang="en">
                <a:solidFill>
                  <a:schemeClr val="lt1"/>
                </a:solidFill>
                <a:latin typeface="Lato"/>
                <a:ea typeface="Lato"/>
                <a:cs typeface="Lato"/>
                <a:sym typeface="Lato"/>
              </a:rPr>
              <a:t> is a crucial task in autonomous driving, enabling vehicles to understand and interpret their environment by classifying each pixel in an image into predefined categories such as road, pedestrian, vehicle, building, and more.</a:t>
            </a:r>
            <a:endParaRPr>
              <a:solidFill>
                <a:schemeClr val="lt1"/>
              </a:solidFill>
              <a:latin typeface="Lato"/>
              <a:ea typeface="Lato"/>
              <a:cs typeface="Lato"/>
              <a:sym typeface="Lato"/>
            </a:endParaRPr>
          </a:p>
          <a:p>
            <a:pPr indent="0" lvl="0" marL="0" rtl="0" algn="just">
              <a:spcBef>
                <a:spcPts val="1200"/>
              </a:spcBef>
              <a:spcAft>
                <a:spcPts val="0"/>
              </a:spcAft>
              <a:buNone/>
            </a:pPr>
            <a:r>
              <a:t/>
            </a:r>
            <a:endParaRPr sz="1600">
              <a:solidFill>
                <a:schemeClr val="lt1"/>
              </a:solidFill>
              <a:latin typeface="Lato"/>
              <a:ea typeface="Lato"/>
              <a:cs typeface="Lato"/>
              <a:sym typeface="Lato"/>
            </a:endParaRPr>
          </a:p>
        </p:txBody>
      </p:sp>
      <p:sp>
        <p:nvSpPr>
          <p:cNvPr id="149" name="Google Shape;149;p3"/>
          <p:cNvSpPr txBox="1"/>
          <p:nvPr/>
        </p:nvSpPr>
        <p:spPr>
          <a:xfrm>
            <a:off x="1486875" y="2934375"/>
            <a:ext cx="3332100" cy="141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chemeClr val="lt1"/>
                </a:solidFill>
                <a:latin typeface="Lato"/>
                <a:ea typeface="Lato"/>
                <a:cs typeface="Lato"/>
                <a:sym typeface="Lato"/>
              </a:rPr>
              <a:t>Cityscapes dataset</a:t>
            </a:r>
            <a:r>
              <a:rPr lang="en" sz="1500">
                <a:solidFill>
                  <a:schemeClr val="lt1"/>
                </a:solidFill>
                <a:latin typeface="Lato"/>
                <a:ea typeface="Lato"/>
                <a:cs typeface="Lato"/>
                <a:sym typeface="Lato"/>
              </a:rPr>
              <a:t> provides high-quality, pixel-level annotations of urban street scenes, making it a standard benchmark for training and evaluating segmentation models for self-driving applications.</a:t>
            </a:r>
            <a:endParaRPr sz="1700">
              <a:solidFill>
                <a:schemeClr val="lt1"/>
              </a:solidFill>
              <a:latin typeface="Lato"/>
              <a:ea typeface="Lato"/>
              <a:cs typeface="Lato"/>
              <a:sym typeface="Lato"/>
            </a:endParaRPr>
          </a:p>
        </p:txBody>
      </p:sp>
      <p:pic>
        <p:nvPicPr>
          <p:cNvPr id="150" name="Google Shape;150;p3"/>
          <p:cNvPicPr preferRelativeResize="0"/>
          <p:nvPr/>
        </p:nvPicPr>
        <p:blipFill>
          <a:blip r:embed="rId3">
            <a:alphaModFix/>
          </a:blip>
          <a:stretch>
            <a:fillRect/>
          </a:stretch>
        </p:blipFill>
        <p:spPr>
          <a:xfrm>
            <a:off x="5034550" y="3078500"/>
            <a:ext cx="2966625" cy="1477501"/>
          </a:xfrm>
          <a:prstGeom prst="rect">
            <a:avLst/>
          </a:prstGeom>
          <a:noFill/>
          <a:ln>
            <a:noFill/>
          </a:ln>
        </p:spPr>
      </p:pic>
      <p:pic>
        <p:nvPicPr>
          <p:cNvPr id="151" name="Google Shape;151;p3"/>
          <p:cNvPicPr preferRelativeResize="0"/>
          <p:nvPr/>
        </p:nvPicPr>
        <p:blipFill>
          <a:blip r:embed="rId4">
            <a:alphaModFix/>
          </a:blip>
          <a:stretch>
            <a:fillRect/>
          </a:stretch>
        </p:blipFill>
        <p:spPr>
          <a:xfrm>
            <a:off x="5034525" y="1078300"/>
            <a:ext cx="2966700" cy="168245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6a7e06870b_5_0"/>
          <p:cNvSpPr txBox="1"/>
          <p:nvPr>
            <p:ph type="title"/>
          </p:nvPr>
        </p:nvSpPr>
        <p:spPr>
          <a:xfrm>
            <a:off x="1297500" y="393750"/>
            <a:ext cx="7038900" cy="621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0000"/>
              <a:buNone/>
            </a:pPr>
            <a:r>
              <a:rPr lang="en" sz="3000"/>
              <a:t>Project description</a:t>
            </a:r>
            <a:endParaRPr sz="3000"/>
          </a:p>
        </p:txBody>
      </p:sp>
      <p:sp>
        <p:nvSpPr>
          <p:cNvPr id="157" name="Google Shape;157;g36a7e06870b_5_0"/>
          <p:cNvSpPr txBox="1"/>
          <p:nvPr>
            <p:ph idx="1" type="body"/>
          </p:nvPr>
        </p:nvSpPr>
        <p:spPr>
          <a:xfrm>
            <a:off x="1297500" y="1134000"/>
            <a:ext cx="7491900" cy="38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en" sz="1500" u="sng"/>
              <a:t>Project’s importance:</a:t>
            </a:r>
            <a:endParaRPr b="1" sz="1500" u="sng"/>
          </a:p>
          <a:p>
            <a:pPr indent="0" lvl="0" marL="0" rtl="0" algn="l">
              <a:lnSpc>
                <a:spcPct val="115000"/>
              </a:lnSpc>
              <a:spcBef>
                <a:spcPts val="1200"/>
              </a:spcBef>
              <a:spcAft>
                <a:spcPts val="0"/>
              </a:spcAft>
              <a:buSzPts val="1300"/>
              <a:buNone/>
            </a:pPr>
            <a:r>
              <a:rPr lang="en"/>
              <a:t>Semantic segmentation is crucial for self-driving cars because it provides a pixel-level understanding of the environment, which is essential for</a:t>
            </a:r>
            <a:endParaRPr/>
          </a:p>
          <a:p>
            <a:pPr indent="-311150" lvl="0" marL="457200" rtl="0" algn="l">
              <a:spcBef>
                <a:spcPts val="1200"/>
              </a:spcBef>
              <a:spcAft>
                <a:spcPts val="0"/>
              </a:spcAft>
              <a:buSzPts val="1300"/>
              <a:buChar char="●"/>
            </a:pPr>
            <a:r>
              <a:rPr lang="en"/>
              <a:t>Precise Obstacle Avoidance</a:t>
            </a:r>
            <a:endParaRPr/>
          </a:p>
          <a:p>
            <a:pPr indent="-311150" lvl="0" marL="457200" rtl="0" algn="l">
              <a:spcBef>
                <a:spcPts val="0"/>
              </a:spcBef>
              <a:spcAft>
                <a:spcPts val="0"/>
              </a:spcAft>
              <a:buSzPts val="1300"/>
              <a:buChar char="●"/>
            </a:pPr>
            <a:r>
              <a:rPr lang="en"/>
              <a:t>Lane &amp; Road Understanding</a:t>
            </a:r>
            <a:endParaRPr/>
          </a:p>
          <a:p>
            <a:pPr indent="-311150" lvl="0" marL="457200" rtl="0" algn="l">
              <a:spcBef>
                <a:spcPts val="0"/>
              </a:spcBef>
              <a:spcAft>
                <a:spcPts val="0"/>
              </a:spcAft>
              <a:buSzPts val="1300"/>
              <a:buChar char="●"/>
            </a:pPr>
            <a:r>
              <a:rPr lang="en"/>
              <a:t>Traffic Sign/Signal Recognition</a:t>
            </a:r>
            <a:endParaRPr/>
          </a:p>
          <a:p>
            <a:pPr indent="-311150" lvl="0" marL="457200" rtl="0" algn="l">
              <a:spcBef>
                <a:spcPts val="0"/>
              </a:spcBef>
              <a:spcAft>
                <a:spcPts val="0"/>
              </a:spcAft>
              <a:buSzPts val="1300"/>
              <a:buChar char="●"/>
            </a:pPr>
            <a:r>
              <a:rPr lang="en"/>
              <a:t>Contextual Awareness</a:t>
            </a:r>
            <a:endParaRPr/>
          </a:p>
          <a:p>
            <a:pPr indent="-311150" lvl="0" marL="457200" rtl="0" algn="l">
              <a:spcBef>
                <a:spcPts val="0"/>
              </a:spcBef>
              <a:spcAft>
                <a:spcPts val="0"/>
              </a:spcAft>
              <a:buSzPts val="1300"/>
              <a:buChar char="●"/>
            </a:pPr>
            <a:r>
              <a:rPr lang="en"/>
              <a:t>Pedestrian Safety</a:t>
            </a:r>
            <a:endParaRPr/>
          </a:p>
          <a:p>
            <a:pPr indent="0" lvl="0" marL="0" rtl="0" algn="l">
              <a:lnSpc>
                <a:spcPct val="115000"/>
              </a:lnSpc>
              <a:spcBef>
                <a:spcPts val="1200"/>
              </a:spcBef>
              <a:spcAft>
                <a:spcPts val="0"/>
              </a:spcAft>
              <a:buSzPts val="1300"/>
              <a:buNone/>
            </a:pPr>
            <a:r>
              <a:rPr b="1" lang="en" sz="1500" u="sng"/>
              <a:t>Project’s goal:</a:t>
            </a:r>
            <a:endParaRPr b="1" sz="1500" u="sng"/>
          </a:p>
          <a:p>
            <a:pPr indent="0" lvl="0" marL="0" rtl="0" algn="l">
              <a:lnSpc>
                <a:spcPct val="115000"/>
              </a:lnSpc>
              <a:spcBef>
                <a:spcPts val="1200"/>
              </a:spcBef>
              <a:spcAft>
                <a:spcPts val="0"/>
              </a:spcAft>
              <a:buSzPts val="1300"/>
              <a:buNone/>
            </a:pPr>
            <a:r>
              <a:rPr lang="en"/>
              <a:t>Experiment with FCN8s and U-Net architectures to build a model for Cityscapes semantic segmentation. Understand the key parameters that influence prediction quality and be able to summarize the strengths and weaknesses of each architecture</a:t>
            </a:r>
            <a:endParaRPr b="1"/>
          </a:p>
        </p:txBody>
      </p:sp>
      <p:pic>
        <p:nvPicPr>
          <p:cNvPr id="158" name="Google Shape;158;g36a7e06870b_5_0"/>
          <p:cNvPicPr preferRelativeResize="0"/>
          <p:nvPr/>
        </p:nvPicPr>
        <p:blipFill>
          <a:blip r:embed="rId3">
            <a:alphaModFix/>
          </a:blip>
          <a:stretch>
            <a:fillRect/>
          </a:stretch>
        </p:blipFill>
        <p:spPr>
          <a:xfrm>
            <a:off x="4140900" y="2328800"/>
            <a:ext cx="2126475" cy="1056550"/>
          </a:xfrm>
          <a:prstGeom prst="rect">
            <a:avLst/>
          </a:prstGeom>
          <a:noFill/>
          <a:ln>
            <a:noFill/>
          </a:ln>
        </p:spPr>
      </p:pic>
      <p:pic>
        <p:nvPicPr>
          <p:cNvPr id="159" name="Google Shape;159;g36a7e06870b_5_0"/>
          <p:cNvPicPr preferRelativeResize="0"/>
          <p:nvPr/>
        </p:nvPicPr>
        <p:blipFill>
          <a:blip r:embed="rId4">
            <a:alphaModFix/>
          </a:blip>
          <a:stretch>
            <a:fillRect/>
          </a:stretch>
        </p:blipFill>
        <p:spPr>
          <a:xfrm>
            <a:off x="6334850" y="2330450"/>
            <a:ext cx="2126475" cy="1053243"/>
          </a:xfrm>
          <a:prstGeom prst="rect">
            <a:avLst/>
          </a:prstGeom>
          <a:noFill/>
          <a:ln>
            <a:noFill/>
          </a:ln>
        </p:spPr>
      </p:pic>
      <p:sp>
        <p:nvSpPr>
          <p:cNvPr id="160" name="Google Shape;160;g36a7e06870b_5_0"/>
          <p:cNvSpPr/>
          <p:nvPr/>
        </p:nvSpPr>
        <p:spPr>
          <a:xfrm>
            <a:off x="4140938" y="3395975"/>
            <a:ext cx="2126400" cy="23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Lato"/>
                <a:ea typeface="Lato"/>
                <a:cs typeface="Lato"/>
                <a:sym typeface="Lato"/>
              </a:rPr>
              <a:t>U-Net</a:t>
            </a:r>
            <a:endParaRPr b="1" sz="1100">
              <a:latin typeface="Lato"/>
              <a:ea typeface="Lato"/>
              <a:cs typeface="Lato"/>
              <a:sym typeface="Lato"/>
            </a:endParaRPr>
          </a:p>
        </p:txBody>
      </p:sp>
      <p:sp>
        <p:nvSpPr>
          <p:cNvPr id="161" name="Google Shape;161;g36a7e06870b_5_0"/>
          <p:cNvSpPr/>
          <p:nvPr/>
        </p:nvSpPr>
        <p:spPr>
          <a:xfrm>
            <a:off x="6334888" y="3395975"/>
            <a:ext cx="2126400" cy="23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Lato"/>
                <a:ea typeface="Lato"/>
                <a:cs typeface="Lato"/>
                <a:sym typeface="Lato"/>
              </a:rPr>
              <a:t>FCN8s</a:t>
            </a:r>
            <a:endParaRPr b="1" sz="1100">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Dataset</a:t>
            </a:r>
            <a:endParaRPr/>
          </a:p>
        </p:txBody>
      </p:sp>
      <p:sp>
        <p:nvSpPr>
          <p:cNvPr id="167" name="Google Shape;167;p4"/>
          <p:cNvSpPr txBox="1"/>
          <p:nvPr/>
        </p:nvSpPr>
        <p:spPr>
          <a:xfrm>
            <a:off x="1427625" y="1037600"/>
            <a:ext cx="2581800" cy="5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Subset of Cityscape Dataset </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u="sng">
                <a:solidFill>
                  <a:schemeClr val="hlink"/>
                </a:solidFill>
                <a:latin typeface="Lato"/>
                <a:ea typeface="Lato"/>
                <a:cs typeface="Lato"/>
                <a:sym typeface="Lato"/>
                <a:hlinkClick r:id="rId3"/>
              </a:rPr>
              <a:t>www.cityscapes-dataset.com</a:t>
            </a:r>
            <a:endParaRPr sz="1300">
              <a:solidFill>
                <a:schemeClr val="lt1"/>
              </a:solidFill>
              <a:latin typeface="Lato"/>
              <a:ea typeface="Lato"/>
              <a:cs typeface="Lato"/>
              <a:sym typeface="Lato"/>
            </a:endParaRPr>
          </a:p>
        </p:txBody>
      </p:sp>
      <p:pic>
        <p:nvPicPr>
          <p:cNvPr id="168" name="Google Shape;168;p4"/>
          <p:cNvPicPr preferRelativeResize="0"/>
          <p:nvPr/>
        </p:nvPicPr>
        <p:blipFill>
          <a:blip r:embed="rId4">
            <a:alphaModFix/>
          </a:blip>
          <a:stretch>
            <a:fillRect/>
          </a:stretch>
        </p:blipFill>
        <p:spPr>
          <a:xfrm>
            <a:off x="1493975" y="1686100"/>
            <a:ext cx="2581799" cy="615401"/>
          </a:xfrm>
          <a:prstGeom prst="rect">
            <a:avLst/>
          </a:prstGeom>
          <a:noFill/>
          <a:ln>
            <a:noFill/>
          </a:ln>
        </p:spPr>
      </p:pic>
      <p:sp>
        <p:nvSpPr>
          <p:cNvPr id="169" name="Google Shape;169;p4"/>
          <p:cNvSpPr txBox="1"/>
          <p:nvPr/>
        </p:nvSpPr>
        <p:spPr>
          <a:xfrm>
            <a:off x="1427625" y="3280575"/>
            <a:ext cx="2956500" cy="7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Object Segmentation Dataset</a:t>
            </a:r>
            <a:endParaRPr b="1"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Image Mode : RGB</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Mask Mode: L (Grayscale)</a:t>
            </a:r>
            <a:endParaRPr sz="1300">
              <a:solidFill>
                <a:schemeClr val="lt1"/>
              </a:solidFill>
              <a:latin typeface="Lato"/>
              <a:ea typeface="Lato"/>
              <a:cs typeface="Lato"/>
              <a:sym typeface="Lato"/>
            </a:endParaRPr>
          </a:p>
        </p:txBody>
      </p:sp>
      <p:pic>
        <p:nvPicPr>
          <p:cNvPr id="170" name="Google Shape;170;p4"/>
          <p:cNvPicPr preferRelativeResize="0"/>
          <p:nvPr/>
        </p:nvPicPr>
        <p:blipFill>
          <a:blip r:embed="rId5">
            <a:alphaModFix/>
          </a:blip>
          <a:stretch>
            <a:fillRect/>
          </a:stretch>
        </p:blipFill>
        <p:spPr>
          <a:xfrm>
            <a:off x="4485375" y="1123875"/>
            <a:ext cx="4070249" cy="1546726"/>
          </a:xfrm>
          <a:prstGeom prst="rect">
            <a:avLst/>
          </a:prstGeom>
          <a:noFill/>
          <a:ln>
            <a:noFill/>
          </a:ln>
        </p:spPr>
      </p:pic>
      <p:pic>
        <p:nvPicPr>
          <p:cNvPr id="171" name="Google Shape;171;p4"/>
          <p:cNvPicPr preferRelativeResize="0"/>
          <p:nvPr/>
        </p:nvPicPr>
        <p:blipFill>
          <a:blip r:embed="rId6">
            <a:alphaModFix/>
          </a:blip>
          <a:stretch>
            <a:fillRect/>
          </a:stretch>
        </p:blipFill>
        <p:spPr>
          <a:xfrm>
            <a:off x="4485375" y="2739600"/>
            <a:ext cx="4070250" cy="1547277"/>
          </a:xfrm>
          <a:prstGeom prst="rect">
            <a:avLst/>
          </a:prstGeom>
          <a:noFill/>
          <a:ln>
            <a:noFill/>
          </a:ln>
        </p:spPr>
      </p:pic>
      <p:sp>
        <p:nvSpPr>
          <p:cNvPr id="172" name="Google Shape;172;p4"/>
          <p:cNvSpPr txBox="1"/>
          <p:nvPr/>
        </p:nvSpPr>
        <p:spPr>
          <a:xfrm>
            <a:off x="1427625" y="2679750"/>
            <a:ext cx="2152800" cy="5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u="sng">
                <a:solidFill>
                  <a:schemeClr val="hlink"/>
                </a:solidFill>
                <a:latin typeface="Lato"/>
                <a:ea typeface="Lato"/>
                <a:cs typeface="Lato"/>
                <a:sym typeface="Lato"/>
                <a:hlinkClick r:id="rId7"/>
              </a:rPr>
              <a:t>Download Dataset Link</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6dee23fd8d_0_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EDA</a:t>
            </a:r>
            <a:endParaRPr/>
          </a:p>
        </p:txBody>
      </p:sp>
      <p:sp>
        <p:nvSpPr>
          <p:cNvPr id="178" name="Google Shape;178;g36dee23fd8d_0_7"/>
          <p:cNvSpPr/>
          <p:nvPr/>
        </p:nvSpPr>
        <p:spPr>
          <a:xfrm>
            <a:off x="1181600" y="1552975"/>
            <a:ext cx="1669500" cy="765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Lato"/>
                <a:ea typeface="Lato"/>
                <a:cs typeface="Lato"/>
                <a:sym typeface="Lato"/>
              </a:rPr>
              <a:t>Count Image Files </a:t>
            </a:r>
            <a:endParaRPr sz="1300">
              <a:latin typeface="Lato"/>
              <a:ea typeface="Lato"/>
              <a:cs typeface="Lato"/>
              <a:sym typeface="Lato"/>
            </a:endParaRPr>
          </a:p>
          <a:p>
            <a:pPr indent="0" lvl="0" marL="0" rtl="0" algn="ctr">
              <a:spcBef>
                <a:spcPts val="0"/>
              </a:spcBef>
              <a:spcAft>
                <a:spcPts val="0"/>
              </a:spcAft>
              <a:buNone/>
            </a:pPr>
            <a:r>
              <a:rPr lang="en" sz="1300">
                <a:latin typeface="Lato"/>
                <a:ea typeface="Lato"/>
                <a:cs typeface="Lato"/>
                <a:sym typeface="Lato"/>
              </a:rPr>
              <a:t>vs Mask Files</a:t>
            </a:r>
            <a:endParaRPr sz="1300">
              <a:latin typeface="Lato"/>
              <a:ea typeface="Lato"/>
              <a:cs typeface="Lato"/>
              <a:sym typeface="Lato"/>
            </a:endParaRPr>
          </a:p>
        </p:txBody>
      </p:sp>
      <p:sp>
        <p:nvSpPr>
          <p:cNvPr id="179" name="Google Shape;179;g36dee23fd8d_0_7"/>
          <p:cNvSpPr txBox="1"/>
          <p:nvPr/>
        </p:nvSpPr>
        <p:spPr>
          <a:xfrm>
            <a:off x="3464700" y="510625"/>
            <a:ext cx="283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Validate Training Dataset</a:t>
            </a:r>
            <a:endParaRPr sz="1300">
              <a:solidFill>
                <a:schemeClr val="lt1"/>
              </a:solidFill>
              <a:latin typeface="Lato"/>
              <a:ea typeface="Lato"/>
              <a:cs typeface="Lato"/>
              <a:sym typeface="Lato"/>
            </a:endParaRPr>
          </a:p>
        </p:txBody>
      </p:sp>
      <p:sp>
        <p:nvSpPr>
          <p:cNvPr id="180" name="Google Shape;180;g36dee23fd8d_0_7"/>
          <p:cNvSpPr/>
          <p:nvPr/>
        </p:nvSpPr>
        <p:spPr>
          <a:xfrm>
            <a:off x="266550" y="2317975"/>
            <a:ext cx="1263300" cy="682200"/>
          </a:xfrm>
          <a:prstGeom prst="wedgeEllipseCallout">
            <a:avLst>
              <a:gd fmla="val 39905" name="adj1"/>
              <a:gd fmla="val -72062" name="adj2"/>
            </a:avLst>
          </a:prstGeom>
          <a:solidFill>
            <a:srgbClr val="A729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Lato"/>
                <a:ea typeface="Lato"/>
                <a:cs typeface="Lato"/>
                <a:sym typeface="Lato"/>
              </a:rPr>
              <a:t>Image: 398</a:t>
            </a:r>
            <a:endParaRPr b="1" sz="1100">
              <a:solidFill>
                <a:schemeClr val="lt1"/>
              </a:solidFill>
              <a:latin typeface="Lato"/>
              <a:ea typeface="Lato"/>
              <a:cs typeface="Lato"/>
              <a:sym typeface="Lato"/>
            </a:endParaRPr>
          </a:p>
          <a:p>
            <a:pPr indent="0" lvl="0" marL="0" rtl="0" algn="ctr">
              <a:spcBef>
                <a:spcPts val="0"/>
              </a:spcBef>
              <a:spcAft>
                <a:spcPts val="0"/>
              </a:spcAft>
              <a:buNone/>
            </a:pPr>
            <a:r>
              <a:rPr b="1" lang="en" sz="1100">
                <a:solidFill>
                  <a:schemeClr val="lt1"/>
                </a:solidFill>
                <a:latin typeface="Lato"/>
                <a:ea typeface="Lato"/>
                <a:cs typeface="Lato"/>
                <a:sym typeface="Lato"/>
              </a:rPr>
              <a:t>Mask: 367</a:t>
            </a:r>
            <a:endParaRPr b="1" sz="1100">
              <a:solidFill>
                <a:schemeClr val="lt1"/>
              </a:solidFill>
              <a:latin typeface="Lato"/>
              <a:ea typeface="Lato"/>
              <a:cs typeface="Lato"/>
              <a:sym typeface="Lato"/>
            </a:endParaRPr>
          </a:p>
        </p:txBody>
      </p:sp>
      <p:sp>
        <p:nvSpPr>
          <p:cNvPr id="181" name="Google Shape;181;g36dee23fd8d_0_7"/>
          <p:cNvSpPr/>
          <p:nvPr/>
        </p:nvSpPr>
        <p:spPr>
          <a:xfrm>
            <a:off x="3464700" y="1552975"/>
            <a:ext cx="1669500" cy="765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Lato"/>
                <a:ea typeface="Lato"/>
                <a:cs typeface="Lato"/>
                <a:sym typeface="Lato"/>
              </a:rPr>
              <a:t>Filter only File with pair of Image and Mask File</a:t>
            </a:r>
            <a:endParaRPr sz="1300">
              <a:latin typeface="Lato"/>
              <a:ea typeface="Lato"/>
              <a:cs typeface="Lato"/>
              <a:sym typeface="Lato"/>
            </a:endParaRPr>
          </a:p>
        </p:txBody>
      </p:sp>
      <p:sp>
        <p:nvSpPr>
          <p:cNvPr id="182" name="Google Shape;182;g36dee23fd8d_0_7"/>
          <p:cNvSpPr/>
          <p:nvPr/>
        </p:nvSpPr>
        <p:spPr>
          <a:xfrm>
            <a:off x="2538075" y="2412150"/>
            <a:ext cx="1263300" cy="682200"/>
          </a:xfrm>
          <a:prstGeom prst="wedgeEllipseCallout">
            <a:avLst>
              <a:gd fmla="val 42656" name="adj1"/>
              <a:gd fmla="val -74014" name="adj2"/>
            </a:avLst>
          </a:prstGeom>
          <a:solidFill>
            <a:srgbClr val="A729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Lato"/>
                <a:ea typeface="Lato"/>
                <a:cs typeface="Lato"/>
                <a:sym typeface="Lato"/>
              </a:rPr>
              <a:t>File: 367</a:t>
            </a:r>
            <a:endParaRPr b="1" sz="1100">
              <a:solidFill>
                <a:schemeClr val="lt1"/>
              </a:solidFill>
              <a:latin typeface="Lato"/>
              <a:ea typeface="Lato"/>
              <a:cs typeface="Lato"/>
              <a:sym typeface="Lato"/>
            </a:endParaRPr>
          </a:p>
        </p:txBody>
      </p:sp>
      <p:sp>
        <p:nvSpPr>
          <p:cNvPr id="183" name="Google Shape;183;g36dee23fd8d_0_7"/>
          <p:cNvSpPr/>
          <p:nvPr/>
        </p:nvSpPr>
        <p:spPr>
          <a:xfrm>
            <a:off x="5747800" y="1552975"/>
            <a:ext cx="1669500" cy="765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Lato"/>
                <a:ea typeface="Lato"/>
                <a:cs typeface="Lato"/>
                <a:sym typeface="Lato"/>
              </a:rPr>
              <a:t>Check Image File Duplication with Hash Calculation</a:t>
            </a:r>
            <a:endParaRPr sz="1300">
              <a:latin typeface="Lato"/>
              <a:ea typeface="Lato"/>
              <a:cs typeface="Lato"/>
              <a:sym typeface="Lato"/>
            </a:endParaRPr>
          </a:p>
        </p:txBody>
      </p:sp>
      <p:sp>
        <p:nvSpPr>
          <p:cNvPr id="184" name="Google Shape;184;g36dee23fd8d_0_7"/>
          <p:cNvSpPr/>
          <p:nvPr/>
        </p:nvSpPr>
        <p:spPr>
          <a:xfrm>
            <a:off x="7608450" y="741150"/>
            <a:ext cx="1396500" cy="765000"/>
          </a:xfrm>
          <a:prstGeom prst="wedgeEllipseCallout">
            <a:avLst>
              <a:gd fmla="val -76975" name="adj1"/>
              <a:gd fmla="val 72784" name="adj2"/>
            </a:avLst>
          </a:prstGeom>
          <a:solidFill>
            <a:srgbClr val="A729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Lato"/>
                <a:ea typeface="Lato"/>
                <a:cs typeface="Lato"/>
                <a:sym typeface="Lato"/>
              </a:rPr>
              <a:t>Some Hash Duplication</a:t>
            </a:r>
            <a:endParaRPr b="1" sz="1100">
              <a:solidFill>
                <a:schemeClr val="lt1"/>
              </a:solidFill>
              <a:latin typeface="Lato"/>
              <a:ea typeface="Lato"/>
              <a:cs typeface="Lato"/>
              <a:sym typeface="Lato"/>
            </a:endParaRPr>
          </a:p>
        </p:txBody>
      </p:sp>
      <p:sp>
        <p:nvSpPr>
          <p:cNvPr id="185" name="Google Shape;185;g36dee23fd8d_0_7"/>
          <p:cNvSpPr/>
          <p:nvPr/>
        </p:nvSpPr>
        <p:spPr>
          <a:xfrm>
            <a:off x="4925500" y="2665550"/>
            <a:ext cx="3534600" cy="202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Manual Check Image</a:t>
            </a:r>
            <a:endParaRPr>
              <a:latin typeface="Lato"/>
              <a:ea typeface="Lato"/>
              <a:cs typeface="Lato"/>
              <a:sym typeface="Lato"/>
            </a:endParaRPr>
          </a:p>
        </p:txBody>
      </p:sp>
      <p:pic>
        <p:nvPicPr>
          <p:cNvPr id="186" name="Google Shape;186;g36dee23fd8d_0_7"/>
          <p:cNvPicPr preferRelativeResize="0"/>
          <p:nvPr/>
        </p:nvPicPr>
        <p:blipFill>
          <a:blip r:embed="rId3">
            <a:alphaModFix/>
          </a:blip>
          <a:stretch>
            <a:fillRect/>
          </a:stretch>
        </p:blipFill>
        <p:spPr>
          <a:xfrm>
            <a:off x="5134087" y="3167700"/>
            <a:ext cx="3117425" cy="1244149"/>
          </a:xfrm>
          <a:prstGeom prst="rect">
            <a:avLst/>
          </a:prstGeom>
          <a:noFill/>
          <a:ln>
            <a:noFill/>
          </a:ln>
        </p:spPr>
      </p:pic>
      <p:sp>
        <p:nvSpPr>
          <p:cNvPr id="187" name="Google Shape;187;g36dee23fd8d_0_7"/>
          <p:cNvSpPr/>
          <p:nvPr/>
        </p:nvSpPr>
        <p:spPr>
          <a:xfrm>
            <a:off x="7747500" y="1855275"/>
            <a:ext cx="1396500" cy="765000"/>
          </a:xfrm>
          <a:prstGeom prst="wedgeEllipseCallout">
            <a:avLst>
              <a:gd fmla="val -76975" name="adj1"/>
              <a:gd fmla="val 72784" name="adj2"/>
            </a:avLst>
          </a:prstGeom>
          <a:solidFill>
            <a:srgbClr val="A729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Lato"/>
                <a:ea typeface="Lato"/>
                <a:cs typeface="Lato"/>
                <a:sym typeface="Lato"/>
              </a:rPr>
              <a:t>Not a real Duplication ?</a:t>
            </a:r>
            <a:endParaRPr b="1" sz="1100">
              <a:solidFill>
                <a:schemeClr val="lt1"/>
              </a:solidFill>
              <a:latin typeface="Lato"/>
              <a:ea typeface="Lato"/>
              <a:cs typeface="Lato"/>
              <a:sym typeface="Lato"/>
            </a:endParaRPr>
          </a:p>
        </p:txBody>
      </p:sp>
      <p:sp>
        <p:nvSpPr>
          <p:cNvPr id="188" name="Google Shape;188;g36dee23fd8d_0_7"/>
          <p:cNvSpPr/>
          <p:nvPr/>
        </p:nvSpPr>
        <p:spPr>
          <a:xfrm>
            <a:off x="1972975" y="3339800"/>
            <a:ext cx="2393400" cy="1379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Lato"/>
                <a:ea typeface="Lato"/>
                <a:cs typeface="Lato"/>
                <a:sym typeface="Lato"/>
              </a:rPr>
              <a:t>Double </a:t>
            </a:r>
            <a:r>
              <a:rPr lang="en" sz="1300">
                <a:latin typeface="Lato"/>
                <a:ea typeface="Lato"/>
                <a:cs typeface="Lato"/>
                <a:sym typeface="Lato"/>
              </a:rPr>
              <a:t>Check Image File Duplication with Feature Comparison (ORB Detector &amp; BF Matcher)</a:t>
            </a:r>
            <a:endParaRPr sz="1300">
              <a:latin typeface="Lato"/>
              <a:ea typeface="Lato"/>
              <a:cs typeface="Lato"/>
              <a:sym typeface="Lato"/>
            </a:endParaRPr>
          </a:p>
        </p:txBody>
      </p:sp>
      <p:sp>
        <p:nvSpPr>
          <p:cNvPr id="189" name="Google Shape;189;g36dee23fd8d_0_7"/>
          <p:cNvSpPr/>
          <p:nvPr/>
        </p:nvSpPr>
        <p:spPr>
          <a:xfrm>
            <a:off x="382450" y="3418850"/>
            <a:ext cx="1527000" cy="993000"/>
          </a:xfrm>
          <a:prstGeom prst="wedgeEllipseCallout">
            <a:avLst>
              <a:gd fmla="val 71783" name="adj1"/>
              <a:gd fmla="val 41392" name="adj2"/>
            </a:avLst>
          </a:prstGeom>
          <a:solidFill>
            <a:srgbClr val="0C57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Lato"/>
                <a:ea typeface="Lato"/>
                <a:cs typeface="Lato"/>
                <a:sym typeface="Lato"/>
              </a:rPr>
              <a:t>Confirm no Duplication</a:t>
            </a:r>
            <a:endParaRPr b="1" sz="1100">
              <a:solidFill>
                <a:schemeClr val="lt1"/>
              </a:solidFill>
              <a:latin typeface="Lato"/>
              <a:ea typeface="Lato"/>
              <a:cs typeface="Lato"/>
              <a:sym typeface="Lato"/>
            </a:endParaRPr>
          </a:p>
          <a:p>
            <a:pPr indent="0" lvl="0" marL="0" rtl="0" algn="ctr">
              <a:spcBef>
                <a:spcPts val="0"/>
              </a:spcBef>
              <a:spcAft>
                <a:spcPts val="0"/>
              </a:spcAft>
              <a:buNone/>
            </a:pPr>
            <a:r>
              <a:rPr b="1" lang="en" sz="1100">
                <a:solidFill>
                  <a:schemeClr val="lt1"/>
                </a:solidFill>
                <a:latin typeface="Lato"/>
                <a:ea typeface="Lato"/>
                <a:cs typeface="Lato"/>
                <a:sym typeface="Lato"/>
              </a:rPr>
              <a:t>Train File: 367</a:t>
            </a:r>
            <a:endParaRPr b="1" sz="1100">
              <a:solidFill>
                <a:schemeClr val="lt1"/>
              </a:solidFill>
              <a:latin typeface="Lato"/>
              <a:ea typeface="Lato"/>
              <a:cs typeface="Lato"/>
              <a:sym typeface="Lato"/>
            </a:endParaRPr>
          </a:p>
        </p:txBody>
      </p:sp>
      <p:sp>
        <p:nvSpPr>
          <p:cNvPr id="190" name="Google Shape;190;g36dee23fd8d_0_7"/>
          <p:cNvSpPr/>
          <p:nvPr/>
        </p:nvSpPr>
        <p:spPr>
          <a:xfrm>
            <a:off x="2793025" y="1819525"/>
            <a:ext cx="753300" cy="289800"/>
          </a:xfrm>
          <a:prstGeom prst="rightArrow">
            <a:avLst>
              <a:gd fmla="val 50000" name="adj1"/>
              <a:gd fmla="val 50000" name="adj2"/>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1" name="Google Shape;191;g36dee23fd8d_0_7"/>
          <p:cNvSpPr/>
          <p:nvPr/>
        </p:nvSpPr>
        <p:spPr>
          <a:xfrm>
            <a:off x="5052950" y="1841800"/>
            <a:ext cx="753300" cy="289800"/>
          </a:xfrm>
          <a:prstGeom prst="rightArrow">
            <a:avLst>
              <a:gd fmla="val 50000" name="adj1"/>
              <a:gd fmla="val 50000" name="adj2"/>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2" name="Google Shape;192;g36dee23fd8d_0_7"/>
          <p:cNvSpPr/>
          <p:nvPr/>
        </p:nvSpPr>
        <p:spPr>
          <a:xfrm rot="5400000">
            <a:off x="6316000" y="2381575"/>
            <a:ext cx="533100" cy="289800"/>
          </a:xfrm>
          <a:prstGeom prst="rightArrow">
            <a:avLst>
              <a:gd fmla="val 50000" name="adj1"/>
              <a:gd fmla="val 50000" name="adj2"/>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3" name="Google Shape;193;g36dee23fd8d_0_7"/>
          <p:cNvSpPr/>
          <p:nvPr/>
        </p:nvSpPr>
        <p:spPr>
          <a:xfrm rot="10800000">
            <a:off x="4195338" y="3830325"/>
            <a:ext cx="753300" cy="289800"/>
          </a:xfrm>
          <a:prstGeom prst="rightArrow">
            <a:avLst>
              <a:gd fmla="val 50000" name="adj1"/>
              <a:gd fmla="val 50000" name="adj2"/>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Dataset EDA</a:t>
            </a:r>
            <a:endParaRPr/>
          </a:p>
        </p:txBody>
      </p:sp>
      <p:sp>
        <p:nvSpPr>
          <p:cNvPr id="199" name="Google Shape;199;p5"/>
          <p:cNvSpPr txBox="1"/>
          <p:nvPr/>
        </p:nvSpPr>
        <p:spPr>
          <a:xfrm>
            <a:off x="9277400" y="3899700"/>
            <a:ext cx="2005200" cy="36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Lato"/>
                <a:ea typeface="Lato"/>
                <a:cs typeface="Lato"/>
                <a:sym typeface="Lato"/>
              </a:rPr>
              <a:t>RCNN</a:t>
            </a:r>
            <a:endParaRPr b="1" i="0" sz="1300" u="none" cap="none" strike="noStrike">
              <a:solidFill>
                <a:schemeClr val="lt1"/>
              </a:solidFill>
              <a:latin typeface="Lato"/>
              <a:ea typeface="Lato"/>
              <a:cs typeface="Lato"/>
              <a:sym typeface="Lato"/>
            </a:endParaRPr>
          </a:p>
        </p:txBody>
      </p:sp>
      <p:sp>
        <p:nvSpPr>
          <p:cNvPr id="200" name="Google Shape;200;p5"/>
          <p:cNvSpPr txBox="1"/>
          <p:nvPr/>
        </p:nvSpPr>
        <p:spPr>
          <a:xfrm>
            <a:off x="1450800" y="952975"/>
            <a:ext cx="6557400" cy="6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Based on training dataset, number of class is 12</a:t>
            </a:r>
            <a:endParaRPr b="1" sz="1300">
              <a:solidFill>
                <a:schemeClr val="lt1"/>
              </a:solidFill>
              <a:latin typeface="Lato"/>
              <a:ea typeface="Lato"/>
              <a:cs typeface="Lato"/>
              <a:sym typeface="Lato"/>
            </a:endParaRPr>
          </a:p>
          <a:p>
            <a:pPr indent="0" lvl="0" marL="0" rtl="0" algn="l">
              <a:spcBef>
                <a:spcPts val="0"/>
              </a:spcBef>
              <a:spcAft>
                <a:spcPts val="0"/>
              </a:spcAft>
              <a:buNone/>
            </a:pPr>
            <a:r>
              <a:t/>
            </a:r>
            <a:endParaRPr b="1" sz="1300">
              <a:solidFill>
                <a:schemeClr val="lt1"/>
              </a:solidFill>
              <a:latin typeface="Lato"/>
              <a:ea typeface="Lato"/>
              <a:cs typeface="Lato"/>
              <a:sym typeface="Lato"/>
            </a:endParaRPr>
          </a:p>
          <a:p>
            <a:pPr indent="0" lvl="0" marL="0" rtl="0" algn="l">
              <a:spcBef>
                <a:spcPts val="0"/>
              </a:spcBef>
              <a:spcAft>
                <a:spcPts val="0"/>
              </a:spcAft>
              <a:buNone/>
            </a:pPr>
            <a:r>
              <a:rPr b="1" lang="en" sz="1300">
                <a:solidFill>
                  <a:schemeClr val="lt1"/>
                </a:solidFill>
                <a:latin typeface="Lato"/>
                <a:ea typeface="Lato"/>
                <a:cs typeface="Lato"/>
                <a:sym typeface="Lato"/>
              </a:rPr>
              <a:t>Overlay the image with each class to have a visibility of the class name </a:t>
            </a:r>
            <a:endParaRPr b="1" sz="1300">
              <a:solidFill>
                <a:schemeClr val="lt1"/>
              </a:solidFill>
              <a:latin typeface="Lato"/>
              <a:ea typeface="Lato"/>
              <a:cs typeface="Lato"/>
              <a:sym typeface="Lato"/>
            </a:endParaRPr>
          </a:p>
        </p:txBody>
      </p:sp>
      <p:sp>
        <p:nvSpPr>
          <p:cNvPr id="201" name="Google Shape;201;p5"/>
          <p:cNvSpPr txBox="1"/>
          <p:nvPr/>
        </p:nvSpPr>
        <p:spPr>
          <a:xfrm>
            <a:off x="1538250" y="1902150"/>
            <a:ext cx="65574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0 - Sky, exist in 366 files</a:t>
            </a:r>
            <a:endParaRPr b="1" sz="1300">
              <a:solidFill>
                <a:schemeClr val="lt1"/>
              </a:solidFill>
              <a:latin typeface="Lato"/>
              <a:ea typeface="Lato"/>
              <a:cs typeface="Lato"/>
              <a:sym typeface="Lato"/>
            </a:endParaRPr>
          </a:p>
        </p:txBody>
      </p:sp>
      <p:pic>
        <p:nvPicPr>
          <p:cNvPr id="202" name="Google Shape;202;p5"/>
          <p:cNvPicPr preferRelativeResize="0"/>
          <p:nvPr/>
        </p:nvPicPr>
        <p:blipFill>
          <a:blip r:embed="rId3">
            <a:alphaModFix/>
          </a:blip>
          <a:stretch>
            <a:fillRect/>
          </a:stretch>
        </p:blipFill>
        <p:spPr>
          <a:xfrm>
            <a:off x="1538250" y="2465875"/>
            <a:ext cx="7038902" cy="18586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6dee23fd8d_0_77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Dataset EDA</a:t>
            </a:r>
            <a:endParaRPr/>
          </a:p>
        </p:txBody>
      </p:sp>
      <p:sp>
        <p:nvSpPr>
          <p:cNvPr id="208" name="Google Shape;208;g36dee23fd8d_0_778"/>
          <p:cNvSpPr txBox="1"/>
          <p:nvPr/>
        </p:nvSpPr>
        <p:spPr>
          <a:xfrm>
            <a:off x="9277400" y="3899700"/>
            <a:ext cx="2005200" cy="36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Lato"/>
                <a:ea typeface="Lato"/>
                <a:cs typeface="Lato"/>
                <a:sym typeface="Lato"/>
              </a:rPr>
              <a:t>RCNN</a:t>
            </a:r>
            <a:endParaRPr b="1" i="0" sz="1300" u="none" cap="none" strike="noStrike">
              <a:solidFill>
                <a:schemeClr val="lt1"/>
              </a:solidFill>
              <a:latin typeface="Lato"/>
              <a:ea typeface="Lato"/>
              <a:cs typeface="Lato"/>
              <a:sym typeface="Lato"/>
            </a:endParaRPr>
          </a:p>
        </p:txBody>
      </p:sp>
      <p:sp>
        <p:nvSpPr>
          <p:cNvPr id="209" name="Google Shape;209;g36dee23fd8d_0_778"/>
          <p:cNvSpPr txBox="1"/>
          <p:nvPr/>
        </p:nvSpPr>
        <p:spPr>
          <a:xfrm>
            <a:off x="1457125" y="943350"/>
            <a:ext cx="65574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1  - Building, exist in </a:t>
            </a:r>
            <a:r>
              <a:rPr b="1" lang="en" sz="1300">
                <a:solidFill>
                  <a:schemeClr val="lt1"/>
                </a:solidFill>
                <a:latin typeface="Lato"/>
                <a:ea typeface="Lato"/>
                <a:cs typeface="Lato"/>
                <a:sym typeface="Lato"/>
              </a:rPr>
              <a:t>365 </a:t>
            </a:r>
            <a:r>
              <a:rPr b="1" lang="en" sz="1300">
                <a:solidFill>
                  <a:schemeClr val="lt1"/>
                </a:solidFill>
                <a:latin typeface="Lato"/>
                <a:ea typeface="Lato"/>
                <a:cs typeface="Lato"/>
                <a:sym typeface="Lato"/>
              </a:rPr>
              <a:t>files</a:t>
            </a:r>
            <a:endParaRPr b="1" sz="1300">
              <a:solidFill>
                <a:schemeClr val="lt1"/>
              </a:solidFill>
              <a:latin typeface="Lato"/>
              <a:ea typeface="Lato"/>
              <a:cs typeface="Lato"/>
              <a:sym typeface="Lato"/>
            </a:endParaRPr>
          </a:p>
        </p:txBody>
      </p:sp>
      <p:pic>
        <p:nvPicPr>
          <p:cNvPr id="210" name="Google Shape;210;g36dee23fd8d_0_778"/>
          <p:cNvPicPr preferRelativeResize="0"/>
          <p:nvPr/>
        </p:nvPicPr>
        <p:blipFill>
          <a:blip r:embed="rId3">
            <a:alphaModFix/>
          </a:blip>
          <a:stretch>
            <a:fillRect/>
          </a:stretch>
        </p:blipFill>
        <p:spPr>
          <a:xfrm>
            <a:off x="1610925" y="1307850"/>
            <a:ext cx="5597649" cy="1491751"/>
          </a:xfrm>
          <a:prstGeom prst="rect">
            <a:avLst/>
          </a:prstGeom>
          <a:noFill/>
          <a:ln>
            <a:noFill/>
          </a:ln>
        </p:spPr>
      </p:pic>
      <p:sp>
        <p:nvSpPr>
          <p:cNvPr id="211" name="Google Shape;211;g36dee23fd8d_0_778"/>
          <p:cNvSpPr txBox="1"/>
          <p:nvPr/>
        </p:nvSpPr>
        <p:spPr>
          <a:xfrm>
            <a:off x="1538250" y="2961650"/>
            <a:ext cx="65574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2  - Pole, exist in </a:t>
            </a:r>
            <a:r>
              <a:rPr b="1" lang="en" sz="1300">
                <a:solidFill>
                  <a:schemeClr val="lt1"/>
                </a:solidFill>
                <a:latin typeface="Lato"/>
                <a:ea typeface="Lato"/>
                <a:cs typeface="Lato"/>
                <a:sym typeface="Lato"/>
              </a:rPr>
              <a:t>366 </a:t>
            </a:r>
            <a:r>
              <a:rPr b="1" lang="en" sz="1300">
                <a:solidFill>
                  <a:schemeClr val="lt1"/>
                </a:solidFill>
                <a:latin typeface="Lato"/>
                <a:ea typeface="Lato"/>
                <a:cs typeface="Lato"/>
                <a:sym typeface="Lato"/>
              </a:rPr>
              <a:t>files</a:t>
            </a:r>
            <a:endParaRPr b="1" sz="1300">
              <a:solidFill>
                <a:schemeClr val="lt1"/>
              </a:solidFill>
              <a:latin typeface="Lato"/>
              <a:ea typeface="Lato"/>
              <a:cs typeface="Lato"/>
              <a:sym typeface="Lato"/>
            </a:endParaRPr>
          </a:p>
        </p:txBody>
      </p:sp>
      <p:pic>
        <p:nvPicPr>
          <p:cNvPr id="212" name="Google Shape;212;g36dee23fd8d_0_778"/>
          <p:cNvPicPr preferRelativeResize="0"/>
          <p:nvPr/>
        </p:nvPicPr>
        <p:blipFill>
          <a:blip r:embed="rId4">
            <a:alphaModFix/>
          </a:blip>
          <a:stretch>
            <a:fillRect/>
          </a:stretch>
        </p:blipFill>
        <p:spPr>
          <a:xfrm>
            <a:off x="1610925" y="3326150"/>
            <a:ext cx="5597651" cy="14913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6dee23fd8d_0_80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Dataset EDA</a:t>
            </a:r>
            <a:endParaRPr/>
          </a:p>
        </p:txBody>
      </p:sp>
      <p:sp>
        <p:nvSpPr>
          <p:cNvPr id="218" name="Google Shape;218;g36dee23fd8d_0_801"/>
          <p:cNvSpPr txBox="1"/>
          <p:nvPr/>
        </p:nvSpPr>
        <p:spPr>
          <a:xfrm>
            <a:off x="9277400" y="3899700"/>
            <a:ext cx="2005200" cy="36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Lato"/>
                <a:ea typeface="Lato"/>
                <a:cs typeface="Lato"/>
                <a:sym typeface="Lato"/>
              </a:rPr>
              <a:t>RCNN</a:t>
            </a:r>
            <a:endParaRPr b="1" i="0" sz="1300" u="none" cap="none" strike="noStrike">
              <a:solidFill>
                <a:schemeClr val="lt1"/>
              </a:solidFill>
              <a:latin typeface="Lato"/>
              <a:ea typeface="Lato"/>
              <a:cs typeface="Lato"/>
              <a:sym typeface="Lato"/>
            </a:endParaRPr>
          </a:p>
        </p:txBody>
      </p:sp>
      <p:sp>
        <p:nvSpPr>
          <p:cNvPr id="219" name="Google Shape;219;g36dee23fd8d_0_801"/>
          <p:cNvSpPr txBox="1"/>
          <p:nvPr/>
        </p:nvSpPr>
        <p:spPr>
          <a:xfrm>
            <a:off x="1457125" y="943350"/>
            <a:ext cx="65574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3  - Road, exist in </a:t>
            </a:r>
            <a:r>
              <a:rPr b="1" lang="en" sz="1300">
                <a:solidFill>
                  <a:schemeClr val="lt1"/>
                </a:solidFill>
                <a:latin typeface="Lato"/>
                <a:ea typeface="Lato"/>
                <a:cs typeface="Lato"/>
                <a:sym typeface="Lato"/>
              </a:rPr>
              <a:t>367</a:t>
            </a:r>
            <a:r>
              <a:rPr b="1" lang="en" sz="1300">
                <a:solidFill>
                  <a:schemeClr val="lt1"/>
                </a:solidFill>
                <a:latin typeface="Lato"/>
                <a:ea typeface="Lato"/>
                <a:cs typeface="Lato"/>
                <a:sym typeface="Lato"/>
              </a:rPr>
              <a:t> files</a:t>
            </a:r>
            <a:endParaRPr b="1" sz="1300">
              <a:solidFill>
                <a:schemeClr val="lt1"/>
              </a:solidFill>
              <a:latin typeface="Lato"/>
              <a:ea typeface="Lato"/>
              <a:cs typeface="Lato"/>
              <a:sym typeface="Lato"/>
            </a:endParaRPr>
          </a:p>
        </p:txBody>
      </p:sp>
      <p:sp>
        <p:nvSpPr>
          <p:cNvPr id="220" name="Google Shape;220;g36dee23fd8d_0_801"/>
          <p:cNvSpPr txBox="1"/>
          <p:nvPr/>
        </p:nvSpPr>
        <p:spPr>
          <a:xfrm>
            <a:off x="1538250" y="2961650"/>
            <a:ext cx="65574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4  - Sidewalk, exist in </a:t>
            </a:r>
            <a:r>
              <a:rPr b="1" lang="en" sz="1300">
                <a:solidFill>
                  <a:schemeClr val="lt1"/>
                </a:solidFill>
                <a:latin typeface="Lato"/>
                <a:ea typeface="Lato"/>
                <a:cs typeface="Lato"/>
                <a:sym typeface="Lato"/>
              </a:rPr>
              <a:t>349 </a:t>
            </a:r>
            <a:r>
              <a:rPr b="1" lang="en" sz="1300">
                <a:solidFill>
                  <a:schemeClr val="lt1"/>
                </a:solidFill>
                <a:latin typeface="Lato"/>
                <a:ea typeface="Lato"/>
                <a:cs typeface="Lato"/>
                <a:sym typeface="Lato"/>
              </a:rPr>
              <a:t>files</a:t>
            </a:r>
            <a:endParaRPr b="1" sz="1300">
              <a:solidFill>
                <a:schemeClr val="lt1"/>
              </a:solidFill>
              <a:latin typeface="Lato"/>
              <a:ea typeface="Lato"/>
              <a:cs typeface="Lato"/>
              <a:sym typeface="Lato"/>
            </a:endParaRPr>
          </a:p>
        </p:txBody>
      </p:sp>
      <p:pic>
        <p:nvPicPr>
          <p:cNvPr id="221" name="Google Shape;221;g36dee23fd8d_0_801"/>
          <p:cNvPicPr preferRelativeResize="0"/>
          <p:nvPr/>
        </p:nvPicPr>
        <p:blipFill>
          <a:blip r:embed="rId3">
            <a:alphaModFix/>
          </a:blip>
          <a:stretch>
            <a:fillRect/>
          </a:stretch>
        </p:blipFill>
        <p:spPr>
          <a:xfrm>
            <a:off x="1538250" y="1307850"/>
            <a:ext cx="5670327" cy="1530632"/>
          </a:xfrm>
          <a:prstGeom prst="rect">
            <a:avLst/>
          </a:prstGeom>
          <a:noFill/>
          <a:ln>
            <a:noFill/>
          </a:ln>
        </p:spPr>
      </p:pic>
      <p:pic>
        <p:nvPicPr>
          <p:cNvPr id="222" name="Google Shape;222;g36dee23fd8d_0_801"/>
          <p:cNvPicPr preferRelativeResize="0"/>
          <p:nvPr/>
        </p:nvPicPr>
        <p:blipFill>
          <a:blip r:embed="rId4">
            <a:alphaModFix/>
          </a:blip>
          <a:stretch>
            <a:fillRect/>
          </a:stretch>
        </p:blipFill>
        <p:spPr>
          <a:xfrm>
            <a:off x="1538250" y="3339437"/>
            <a:ext cx="5670326" cy="148501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6dee23fd8d_0_81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Dataset EDA</a:t>
            </a:r>
            <a:endParaRPr/>
          </a:p>
        </p:txBody>
      </p:sp>
      <p:sp>
        <p:nvSpPr>
          <p:cNvPr id="228" name="Google Shape;228;g36dee23fd8d_0_814"/>
          <p:cNvSpPr txBox="1"/>
          <p:nvPr/>
        </p:nvSpPr>
        <p:spPr>
          <a:xfrm>
            <a:off x="9277400" y="3899700"/>
            <a:ext cx="2005200" cy="36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Lato"/>
                <a:ea typeface="Lato"/>
                <a:cs typeface="Lato"/>
                <a:sym typeface="Lato"/>
              </a:rPr>
              <a:t>RCNN</a:t>
            </a:r>
            <a:endParaRPr b="1" i="0" sz="1300" u="none" cap="none" strike="noStrike">
              <a:solidFill>
                <a:schemeClr val="lt1"/>
              </a:solidFill>
              <a:latin typeface="Lato"/>
              <a:ea typeface="Lato"/>
              <a:cs typeface="Lato"/>
              <a:sym typeface="Lato"/>
            </a:endParaRPr>
          </a:p>
        </p:txBody>
      </p:sp>
      <p:sp>
        <p:nvSpPr>
          <p:cNvPr id="229" name="Google Shape;229;g36dee23fd8d_0_814"/>
          <p:cNvSpPr txBox="1"/>
          <p:nvPr/>
        </p:nvSpPr>
        <p:spPr>
          <a:xfrm>
            <a:off x="1251125" y="1012900"/>
            <a:ext cx="29700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5  - Vegetation, exist in 319 files</a:t>
            </a:r>
            <a:endParaRPr b="1" sz="1300">
              <a:solidFill>
                <a:schemeClr val="lt1"/>
              </a:solidFill>
              <a:latin typeface="Lato"/>
              <a:ea typeface="Lato"/>
              <a:cs typeface="Lato"/>
              <a:sym typeface="Lato"/>
            </a:endParaRPr>
          </a:p>
        </p:txBody>
      </p:sp>
      <p:pic>
        <p:nvPicPr>
          <p:cNvPr id="230" name="Google Shape;230;g36dee23fd8d_0_814"/>
          <p:cNvPicPr preferRelativeResize="0"/>
          <p:nvPr/>
        </p:nvPicPr>
        <p:blipFill>
          <a:blip r:embed="rId3">
            <a:alphaModFix/>
          </a:blip>
          <a:stretch>
            <a:fillRect/>
          </a:stretch>
        </p:blipFill>
        <p:spPr>
          <a:xfrm>
            <a:off x="1251125" y="1463350"/>
            <a:ext cx="3685924" cy="999575"/>
          </a:xfrm>
          <a:prstGeom prst="rect">
            <a:avLst/>
          </a:prstGeom>
          <a:noFill/>
          <a:ln>
            <a:noFill/>
          </a:ln>
        </p:spPr>
      </p:pic>
      <p:sp>
        <p:nvSpPr>
          <p:cNvPr id="231" name="Google Shape;231;g36dee23fd8d_0_814"/>
          <p:cNvSpPr txBox="1"/>
          <p:nvPr/>
        </p:nvSpPr>
        <p:spPr>
          <a:xfrm>
            <a:off x="5178225" y="1012900"/>
            <a:ext cx="29700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6  - Traffic Sign, exist in </a:t>
            </a:r>
            <a:r>
              <a:rPr b="1" lang="en" sz="1300">
                <a:solidFill>
                  <a:schemeClr val="lt1"/>
                </a:solidFill>
                <a:latin typeface="Lato"/>
                <a:ea typeface="Lato"/>
                <a:cs typeface="Lato"/>
                <a:sym typeface="Lato"/>
              </a:rPr>
              <a:t>351 </a:t>
            </a:r>
            <a:r>
              <a:rPr b="1" lang="en" sz="1300">
                <a:solidFill>
                  <a:schemeClr val="lt1"/>
                </a:solidFill>
                <a:latin typeface="Lato"/>
                <a:ea typeface="Lato"/>
                <a:cs typeface="Lato"/>
                <a:sym typeface="Lato"/>
              </a:rPr>
              <a:t>files</a:t>
            </a:r>
            <a:endParaRPr b="1" sz="1300">
              <a:solidFill>
                <a:schemeClr val="lt1"/>
              </a:solidFill>
              <a:latin typeface="Lato"/>
              <a:ea typeface="Lato"/>
              <a:cs typeface="Lato"/>
              <a:sym typeface="Lato"/>
            </a:endParaRPr>
          </a:p>
        </p:txBody>
      </p:sp>
      <p:pic>
        <p:nvPicPr>
          <p:cNvPr id="232" name="Google Shape;232;g36dee23fd8d_0_814"/>
          <p:cNvPicPr preferRelativeResize="0"/>
          <p:nvPr/>
        </p:nvPicPr>
        <p:blipFill>
          <a:blip r:embed="rId4">
            <a:alphaModFix/>
          </a:blip>
          <a:stretch>
            <a:fillRect/>
          </a:stretch>
        </p:blipFill>
        <p:spPr>
          <a:xfrm>
            <a:off x="5178226" y="1463350"/>
            <a:ext cx="3696707" cy="999575"/>
          </a:xfrm>
          <a:prstGeom prst="rect">
            <a:avLst/>
          </a:prstGeom>
          <a:noFill/>
          <a:ln>
            <a:noFill/>
          </a:ln>
        </p:spPr>
      </p:pic>
      <p:sp>
        <p:nvSpPr>
          <p:cNvPr id="233" name="Google Shape;233;g36dee23fd8d_0_814"/>
          <p:cNvSpPr txBox="1"/>
          <p:nvPr/>
        </p:nvSpPr>
        <p:spPr>
          <a:xfrm>
            <a:off x="1251125" y="2844025"/>
            <a:ext cx="29700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7  - Fence, exist in 173 files</a:t>
            </a:r>
            <a:endParaRPr b="1" sz="1300">
              <a:solidFill>
                <a:schemeClr val="lt1"/>
              </a:solidFill>
              <a:latin typeface="Lato"/>
              <a:ea typeface="Lato"/>
              <a:cs typeface="Lato"/>
              <a:sym typeface="Lato"/>
            </a:endParaRPr>
          </a:p>
        </p:txBody>
      </p:sp>
      <p:pic>
        <p:nvPicPr>
          <p:cNvPr id="234" name="Google Shape;234;g36dee23fd8d_0_814"/>
          <p:cNvPicPr preferRelativeResize="0"/>
          <p:nvPr/>
        </p:nvPicPr>
        <p:blipFill>
          <a:blip r:embed="rId5">
            <a:alphaModFix/>
          </a:blip>
          <a:stretch>
            <a:fillRect/>
          </a:stretch>
        </p:blipFill>
        <p:spPr>
          <a:xfrm>
            <a:off x="1297500" y="3278075"/>
            <a:ext cx="3685923" cy="1000949"/>
          </a:xfrm>
          <a:prstGeom prst="rect">
            <a:avLst/>
          </a:prstGeom>
          <a:noFill/>
          <a:ln>
            <a:noFill/>
          </a:ln>
        </p:spPr>
      </p:pic>
      <p:sp>
        <p:nvSpPr>
          <p:cNvPr id="235" name="Google Shape;235;g36dee23fd8d_0_814"/>
          <p:cNvSpPr txBox="1"/>
          <p:nvPr/>
        </p:nvSpPr>
        <p:spPr>
          <a:xfrm>
            <a:off x="5178225" y="2844025"/>
            <a:ext cx="29700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8  - Vehicle, exist in </a:t>
            </a:r>
            <a:r>
              <a:rPr b="1" lang="en" sz="1300">
                <a:solidFill>
                  <a:schemeClr val="lt1"/>
                </a:solidFill>
                <a:latin typeface="Lato"/>
                <a:ea typeface="Lato"/>
                <a:cs typeface="Lato"/>
                <a:sym typeface="Lato"/>
              </a:rPr>
              <a:t>360 </a:t>
            </a:r>
            <a:r>
              <a:rPr b="1" lang="en" sz="1300">
                <a:solidFill>
                  <a:schemeClr val="lt1"/>
                </a:solidFill>
                <a:latin typeface="Lato"/>
                <a:ea typeface="Lato"/>
                <a:cs typeface="Lato"/>
                <a:sym typeface="Lato"/>
              </a:rPr>
              <a:t>files</a:t>
            </a:r>
            <a:endParaRPr b="1" sz="1300">
              <a:solidFill>
                <a:schemeClr val="lt1"/>
              </a:solidFill>
              <a:latin typeface="Lato"/>
              <a:ea typeface="Lato"/>
              <a:cs typeface="Lato"/>
              <a:sym typeface="Lato"/>
            </a:endParaRPr>
          </a:p>
        </p:txBody>
      </p:sp>
      <p:pic>
        <p:nvPicPr>
          <p:cNvPr id="236" name="Google Shape;236;g36dee23fd8d_0_814"/>
          <p:cNvPicPr preferRelativeResize="0"/>
          <p:nvPr/>
        </p:nvPicPr>
        <p:blipFill>
          <a:blip r:embed="rId6">
            <a:alphaModFix/>
          </a:blip>
          <a:stretch>
            <a:fillRect/>
          </a:stretch>
        </p:blipFill>
        <p:spPr>
          <a:xfrm>
            <a:off x="5178225" y="3278075"/>
            <a:ext cx="3696698" cy="99145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6dee23fd8d_0_83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Dataset EDA</a:t>
            </a:r>
            <a:endParaRPr/>
          </a:p>
        </p:txBody>
      </p:sp>
      <p:sp>
        <p:nvSpPr>
          <p:cNvPr id="242" name="Google Shape;242;g36dee23fd8d_0_833"/>
          <p:cNvSpPr txBox="1"/>
          <p:nvPr/>
        </p:nvSpPr>
        <p:spPr>
          <a:xfrm>
            <a:off x="9277400" y="3899700"/>
            <a:ext cx="2005200" cy="36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Lato"/>
                <a:ea typeface="Lato"/>
                <a:cs typeface="Lato"/>
                <a:sym typeface="Lato"/>
              </a:rPr>
              <a:t>RCNN</a:t>
            </a:r>
            <a:endParaRPr b="1" i="0" sz="1300" u="none" cap="none" strike="noStrike">
              <a:solidFill>
                <a:schemeClr val="lt1"/>
              </a:solidFill>
              <a:latin typeface="Lato"/>
              <a:ea typeface="Lato"/>
              <a:cs typeface="Lato"/>
              <a:sym typeface="Lato"/>
            </a:endParaRPr>
          </a:p>
        </p:txBody>
      </p:sp>
      <p:sp>
        <p:nvSpPr>
          <p:cNvPr id="243" name="Google Shape;243;g36dee23fd8d_0_833"/>
          <p:cNvSpPr txBox="1"/>
          <p:nvPr/>
        </p:nvSpPr>
        <p:spPr>
          <a:xfrm>
            <a:off x="1251125" y="1012900"/>
            <a:ext cx="29700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9  - Person, exist in 317 files</a:t>
            </a:r>
            <a:endParaRPr b="1" sz="1300">
              <a:solidFill>
                <a:schemeClr val="lt1"/>
              </a:solidFill>
              <a:latin typeface="Lato"/>
              <a:ea typeface="Lato"/>
              <a:cs typeface="Lato"/>
              <a:sym typeface="Lato"/>
            </a:endParaRPr>
          </a:p>
        </p:txBody>
      </p:sp>
      <p:sp>
        <p:nvSpPr>
          <p:cNvPr id="244" name="Google Shape;244;g36dee23fd8d_0_833"/>
          <p:cNvSpPr txBox="1"/>
          <p:nvPr/>
        </p:nvSpPr>
        <p:spPr>
          <a:xfrm>
            <a:off x="5178225" y="1012900"/>
            <a:ext cx="35370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10  - Rider, exist in 201 files</a:t>
            </a:r>
            <a:endParaRPr b="1" sz="1300">
              <a:solidFill>
                <a:schemeClr val="lt1"/>
              </a:solidFill>
              <a:latin typeface="Lato"/>
              <a:ea typeface="Lato"/>
              <a:cs typeface="Lato"/>
              <a:sym typeface="Lato"/>
            </a:endParaRPr>
          </a:p>
        </p:txBody>
      </p:sp>
      <p:sp>
        <p:nvSpPr>
          <p:cNvPr id="245" name="Google Shape;245;g36dee23fd8d_0_833"/>
          <p:cNvSpPr txBox="1"/>
          <p:nvPr/>
        </p:nvSpPr>
        <p:spPr>
          <a:xfrm>
            <a:off x="3544538" y="2898750"/>
            <a:ext cx="29700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11  - Void, exist in 367 files</a:t>
            </a:r>
            <a:endParaRPr b="1" sz="1300">
              <a:solidFill>
                <a:schemeClr val="lt1"/>
              </a:solidFill>
              <a:latin typeface="Lato"/>
              <a:ea typeface="Lato"/>
              <a:cs typeface="Lato"/>
              <a:sym typeface="Lato"/>
            </a:endParaRPr>
          </a:p>
        </p:txBody>
      </p:sp>
      <p:pic>
        <p:nvPicPr>
          <p:cNvPr id="246" name="Google Shape;246;g36dee23fd8d_0_833"/>
          <p:cNvPicPr preferRelativeResize="0"/>
          <p:nvPr/>
        </p:nvPicPr>
        <p:blipFill>
          <a:blip r:embed="rId3">
            <a:alphaModFix/>
          </a:blip>
          <a:stretch>
            <a:fillRect/>
          </a:stretch>
        </p:blipFill>
        <p:spPr>
          <a:xfrm>
            <a:off x="1251125" y="1462662"/>
            <a:ext cx="3763214" cy="1000951"/>
          </a:xfrm>
          <a:prstGeom prst="rect">
            <a:avLst/>
          </a:prstGeom>
          <a:noFill/>
          <a:ln>
            <a:noFill/>
          </a:ln>
        </p:spPr>
      </p:pic>
      <p:pic>
        <p:nvPicPr>
          <p:cNvPr id="247" name="Google Shape;247;g36dee23fd8d_0_833"/>
          <p:cNvPicPr preferRelativeResize="0"/>
          <p:nvPr/>
        </p:nvPicPr>
        <p:blipFill>
          <a:blip r:embed="rId4">
            <a:alphaModFix/>
          </a:blip>
          <a:stretch>
            <a:fillRect/>
          </a:stretch>
        </p:blipFill>
        <p:spPr>
          <a:xfrm>
            <a:off x="5108675" y="1462650"/>
            <a:ext cx="3774383" cy="1000975"/>
          </a:xfrm>
          <a:prstGeom prst="rect">
            <a:avLst/>
          </a:prstGeom>
          <a:noFill/>
          <a:ln>
            <a:noFill/>
          </a:ln>
        </p:spPr>
      </p:pic>
      <p:pic>
        <p:nvPicPr>
          <p:cNvPr id="248" name="Google Shape;248;g36dee23fd8d_0_833"/>
          <p:cNvPicPr preferRelativeResize="0"/>
          <p:nvPr/>
        </p:nvPicPr>
        <p:blipFill>
          <a:blip r:embed="rId5">
            <a:alphaModFix/>
          </a:blip>
          <a:stretch>
            <a:fillRect/>
          </a:stretch>
        </p:blipFill>
        <p:spPr>
          <a:xfrm>
            <a:off x="1245550" y="3263249"/>
            <a:ext cx="3774373" cy="997233"/>
          </a:xfrm>
          <a:prstGeom prst="rect">
            <a:avLst/>
          </a:prstGeom>
          <a:noFill/>
          <a:ln>
            <a:noFill/>
          </a:ln>
        </p:spPr>
      </p:pic>
      <p:pic>
        <p:nvPicPr>
          <p:cNvPr id="249" name="Google Shape;249;g36dee23fd8d_0_833"/>
          <p:cNvPicPr preferRelativeResize="0"/>
          <p:nvPr/>
        </p:nvPicPr>
        <p:blipFill>
          <a:blip r:embed="rId6">
            <a:alphaModFix/>
          </a:blip>
          <a:stretch>
            <a:fillRect/>
          </a:stretch>
        </p:blipFill>
        <p:spPr>
          <a:xfrm>
            <a:off x="5178225" y="3263250"/>
            <a:ext cx="3772894" cy="9972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6f3a87564a_0_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EDA</a:t>
            </a:r>
            <a:endParaRPr/>
          </a:p>
        </p:txBody>
      </p:sp>
      <p:sp>
        <p:nvSpPr>
          <p:cNvPr id="255" name="Google Shape;255;g36f3a87564a_0_0"/>
          <p:cNvSpPr txBox="1"/>
          <p:nvPr>
            <p:ph idx="1" type="body"/>
          </p:nvPr>
        </p:nvSpPr>
        <p:spPr>
          <a:xfrm>
            <a:off x="1297500" y="1307850"/>
            <a:ext cx="7038900" cy="44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Image Resolution Distribution</a:t>
            </a:r>
            <a:endParaRPr/>
          </a:p>
        </p:txBody>
      </p:sp>
      <p:sp>
        <p:nvSpPr>
          <p:cNvPr id="256" name="Google Shape;256;g36f3a87564a_0_0"/>
          <p:cNvSpPr txBox="1"/>
          <p:nvPr>
            <p:ph idx="1" type="body"/>
          </p:nvPr>
        </p:nvSpPr>
        <p:spPr>
          <a:xfrm>
            <a:off x="5084250" y="2440125"/>
            <a:ext cx="2995500" cy="85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All image files has same resolution: </a:t>
            </a:r>
            <a:endParaRPr/>
          </a:p>
          <a:p>
            <a:pPr indent="-311150" lvl="0" marL="457200" rtl="0" algn="l">
              <a:spcBef>
                <a:spcPts val="0"/>
              </a:spcBef>
              <a:spcAft>
                <a:spcPts val="0"/>
              </a:spcAft>
              <a:buSzPts val="1300"/>
              <a:buChar char="●"/>
            </a:pPr>
            <a:r>
              <a:rPr lang="en"/>
              <a:t>Width: 480</a:t>
            </a:r>
            <a:endParaRPr/>
          </a:p>
          <a:p>
            <a:pPr indent="-311150" lvl="0" marL="457200" rtl="0" algn="l">
              <a:spcBef>
                <a:spcPts val="0"/>
              </a:spcBef>
              <a:spcAft>
                <a:spcPts val="0"/>
              </a:spcAft>
              <a:buSzPts val="1300"/>
              <a:buChar char="●"/>
            </a:pPr>
            <a:r>
              <a:rPr lang="en"/>
              <a:t>Height: 360</a:t>
            </a:r>
            <a:endParaRPr/>
          </a:p>
        </p:txBody>
      </p:sp>
      <p:pic>
        <p:nvPicPr>
          <p:cNvPr id="257" name="Google Shape;257;g36f3a87564a_0_0"/>
          <p:cNvPicPr preferRelativeResize="0"/>
          <p:nvPr/>
        </p:nvPicPr>
        <p:blipFill>
          <a:blip r:embed="rId3">
            <a:alphaModFix/>
          </a:blip>
          <a:stretch>
            <a:fillRect/>
          </a:stretch>
        </p:blipFill>
        <p:spPr>
          <a:xfrm>
            <a:off x="1418025" y="1755150"/>
            <a:ext cx="3300224" cy="27274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6df97a4919_0_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Dataset EDA</a:t>
            </a:r>
            <a:endParaRPr/>
          </a:p>
        </p:txBody>
      </p:sp>
      <p:sp>
        <p:nvSpPr>
          <p:cNvPr id="263" name="Google Shape;263;g36df97a4919_0_0"/>
          <p:cNvSpPr txBox="1"/>
          <p:nvPr/>
        </p:nvSpPr>
        <p:spPr>
          <a:xfrm>
            <a:off x="9277400" y="3899700"/>
            <a:ext cx="2005200" cy="36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Lato"/>
                <a:ea typeface="Lato"/>
                <a:cs typeface="Lato"/>
                <a:sym typeface="Lato"/>
              </a:rPr>
              <a:t>RCNN</a:t>
            </a:r>
            <a:endParaRPr b="1" i="0" sz="1300" u="none" cap="none" strike="noStrike">
              <a:solidFill>
                <a:schemeClr val="lt1"/>
              </a:solidFill>
              <a:latin typeface="Lato"/>
              <a:ea typeface="Lato"/>
              <a:cs typeface="Lato"/>
              <a:sym typeface="Lato"/>
            </a:endParaRPr>
          </a:p>
        </p:txBody>
      </p:sp>
      <p:sp>
        <p:nvSpPr>
          <p:cNvPr id="264" name="Google Shape;264;g36df97a4919_0_0"/>
          <p:cNvSpPr txBox="1"/>
          <p:nvPr/>
        </p:nvSpPr>
        <p:spPr>
          <a:xfrm>
            <a:off x="3397625" y="516775"/>
            <a:ext cx="29700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Lato"/>
                <a:ea typeface="Lato"/>
                <a:cs typeface="Lato"/>
                <a:sym typeface="Lato"/>
              </a:rPr>
              <a:t>Class Distribution</a:t>
            </a:r>
            <a:endParaRPr b="1" sz="1300">
              <a:solidFill>
                <a:schemeClr val="lt1"/>
              </a:solidFill>
              <a:latin typeface="Lato"/>
              <a:ea typeface="Lato"/>
              <a:cs typeface="Lato"/>
              <a:sym typeface="Lato"/>
            </a:endParaRPr>
          </a:p>
        </p:txBody>
      </p:sp>
      <p:graphicFrame>
        <p:nvGraphicFramePr>
          <p:cNvPr id="265" name="Google Shape;265;g36df97a4919_0_0"/>
          <p:cNvGraphicFramePr/>
          <p:nvPr/>
        </p:nvGraphicFramePr>
        <p:xfrm>
          <a:off x="5251900" y="1012900"/>
          <a:ext cx="3000000" cy="3000000"/>
        </p:xfrm>
        <a:graphic>
          <a:graphicData uri="http://schemas.openxmlformats.org/drawingml/2006/table">
            <a:tbl>
              <a:tblPr>
                <a:noFill/>
                <a:tableStyleId>{C9986B6E-438F-426F-83E9-423C8B15F6CA}</a:tableStyleId>
              </a:tblPr>
              <a:tblGrid>
                <a:gridCol w="678250"/>
                <a:gridCol w="1549000"/>
                <a:gridCol w="1113625"/>
              </a:tblGrid>
              <a:tr h="218825">
                <a:tc>
                  <a:txBody>
                    <a:bodyPr/>
                    <a:lstStyle/>
                    <a:p>
                      <a:pPr indent="0" lvl="0" marL="0" rtl="0" algn="l">
                        <a:spcBef>
                          <a:spcPts val="0"/>
                        </a:spcBef>
                        <a:spcAft>
                          <a:spcPts val="0"/>
                        </a:spcAft>
                        <a:buNone/>
                      </a:pPr>
                      <a:r>
                        <a:rPr b="1" lang="en" sz="1000">
                          <a:solidFill>
                            <a:schemeClr val="dk1"/>
                          </a:solidFill>
                        </a:rPr>
                        <a:t>Class</a:t>
                      </a:r>
                      <a:endParaRPr b="1" sz="1000">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b="1" lang="en" sz="1000">
                          <a:solidFill>
                            <a:schemeClr val="dk1"/>
                          </a:solidFill>
                        </a:rPr>
                        <a:t>Label</a:t>
                      </a:r>
                      <a:endParaRPr b="1" sz="1000">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b="1" lang="en" sz="1000">
                          <a:solidFill>
                            <a:schemeClr val="dk1"/>
                          </a:solidFill>
                        </a:rPr>
                        <a:t>Count</a:t>
                      </a:r>
                      <a:endParaRPr b="1" sz="1000">
                        <a:solidFill>
                          <a:schemeClr val="dk1"/>
                        </a:solidFill>
                      </a:endParaRPr>
                    </a:p>
                  </a:txBody>
                  <a:tcPr marT="91425" marB="91425" marR="91425" marL="91425">
                    <a:solidFill>
                      <a:schemeClr val="lt2"/>
                    </a:solidFill>
                  </a:tcPr>
                </a:tc>
              </a:tr>
              <a:tr h="218825">
                <a:tc>
                  <a:txBody>
                    <a:bodyPr/>
                    <a:lstStyle/>
                    <a:p>
                      <a:pPr indent="0" lvl="0" marL="0" rtl="0" algn="l">
                        <a:spcBef>
                          <a:spcPts val="0"/>
                        </a:spcBef>
                        <a:spcAft>
                          <a:spcPts val="0"/>
                        </a:spcAft>
                        <a:buNone/>
                      </a:pPr>
                      <a:r>
                        <a:rPr lang="en" sz="1000">
                          <a:solidFill>
                            <a:schemeClr val="lt1"/>
                          </a:solidFill>
                        </a:rPr>
                        <a:t>0</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sky</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366</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1</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building</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365</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2</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pole</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366</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3</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road</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367</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4</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sidewalk</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349</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5</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vegetation</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319</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6</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traffic sign</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351</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7</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fence</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173</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8</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vehicle</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360</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9</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person</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317</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10</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rider</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201</a:t>
                      </a:r>
                      <a:endParaRPr sz="1000">
                        <a:solidFill>
                          <a:schemeClr val="lt1"/>
                        </a:solidFill>
                      </a:endParaRPr>
                    </a:p>
                  </a:txBody>
                  <a:tcPr marT="45700" marB="45700" marR="91425" marL="91425"/>
                </a:tc>
              </a:tr>
              <a:tr h="218825">
                <a:tc>
                  <a:txBody>
                    <a:bodyPr/>
                    <a:lstStyle/>
                    <a:p>
                      <a:pPr indent="0" lvl="0" marL="0" rtl="0" algn="l">
                        <a:spcBef>
                          <a:spcPts val="0"/>
                        </a:spcBef>
                        <a:spcAft>
                          <a:spcPts val="0"/>
                        </a:spcAft>
                        <a:buNone/>
                      </a:pPr>
                      <a:r>
                        <a:rPr lang="en" sz="1000">
                          <a:solidFill>
                            <a:schemeClr val="lt1"/>
                          </a:solidFill>
                        </a:rPr>
                        <a:t>11</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void</a:t>
                      </a:r>
                      <a:endParaRPr sz="1000">
                        <a:solidFill>
                          <a:schemeClr val="lt1"/>
                        </a:solidFill>
                      </a:endParaRPr>
                    </a:p>
                  </a:txBody>
                  <a:tcPr marT="45700" marB="45700" marR="91425" marL="91425"/>
                </a:tc>
                <a:tc>
                  <a:txBody>
                    <a:bodyPr/>
                    <a:lstStyle/>
                    <a:p>
                      <a:pPr indent="0" lvl="0" marL="0" rtl="0" algn="l">
                        <a:spcBef>
                          <a:spcPts val="0"/>
                        </a:spcBef>
                        <a:spcAft>
                          <a:spcPts val="0"/>
                        </a:spcAft>
                        <a:buNone/>
                      </a:pPr>
                      <a:r>
                        <a:rPr lang="en" sz="1000">
                          <a:solidFill>
                            <a:schemeClr val="lt1"/>
                          </a:solidFill>
                        </a:rPr>
                        <a:t>367</a:t>
                      </a:r>
                      <a:endParaRPr sz="1000">
                        <a:solidFill>
                          <a:schemeClr val="lt1"/>
                        </a:solidFill>
                      </a:endParaRPr>
                    </a:p>
                  </a:txBody>
                  <a:tcPr marT="45700" marB="45700" marR="91425" marL="91425"/>
                </a:tc>
              </a:tr>
            </a:tbl>
          </a:graphicData>
        </a:graphic>
      </p:graphicFrame>
      <p:pic>
        <p:nvPicPr>
          <p:cNvPr id="266" name="Google Shape;266;g36df97a4919_0_0"/>
          <p:cNvPicPr preferRelativeResize="0"/>
          <p:nvPr/>
        </p:nvPicPr>
        <p:blipFill>
          <a:blip r:embed="rId3">
            <a:alphaModFix/>
          </a:blip>
          <a:stretch>
            <a:fillRect/>
          </a:stretch>
        </p:blipFill>
        <p:spPr>
          <a:xfrm>
            <a:off x="1102351" y="1012900"/>
            <a:ext cx="3994324" cy="2844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6dee23fd8d_0_761"/>
          <p:cNvSpPr txBox="1"/>
          <p:nvPr>
            <p:ph type="title"/>
          </p:nvPr>
        </p:nvSpPr>
        <p:spPr>
          <a:xfrm>
            <a:off x="1305975" y="393750"/>
            <a:ext cx="7030500" cy="427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Model development</a:t>
            </a:r>
            <a:endParaRPr/>
          </a:p>
        </p:txBody>
      </p:sp>
      <p:sp>
        <p:nvSpPr>
          <p:cNvPr id="272" name="Google Shape;272;g36dee23fd8d_0_761"/>
          <p:cNvSpPr txBox="1"/>
          <p:nvPr/>
        </p:nvSpPr>
        <p:spPr>
          <a:xfrm>
            <a:off x="9277400" y="3899700"/>
            <a:ext cx="2005200" cy="36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lt1"/>
                </a:solidFill>
                <a:latin typeface="Lato"/>
                <a:ea typeface="Lato"/>
                <a:cs typeface="Lato"/>
                <a:sym typeface="Lato"/>
              </a:rPr>
              <a:t>RCNN</a:t>
            </a:r>
            <a:endParaRPr b="1" i="0" sz="1300" u="none" cap="none" strike="noStrike">
              <a:solidFill>
                <a:schemeClr val="lt1"/>
              </a:solidFill>
              <a:latin typeface="Lato"/>
              <a:ea typeface="Lato"/>
              <a:cs typeface="Lato"/>
              <a:sym typeface="Lato"/>
            </a:endParaRPr>
          </a:p>
        </p:txBody>
      </p:sp>
      <p:sp>
        <p:nvSpPr>
          <p:cNvPr id="273" name="Google Shape;273;g36dee23fd8d_0_761"/>
          <p:cNvSpPr/>
          <p:nvPr/>
        </p:nvSpPr>
        <p:spPr>
          <a:xfrm>
            <a:off x="1539275" y="1111275"/>
            <a:ext cx="6733500" cy="165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n">
                <a:latin typeface="Lato"/>
                <a:ea typeface="Lato"/>
                <a:cs typeface="Lato"/>
                <a:sym typeface="Lato"/>
              </a:rPr>
              <a:t>FCN8s</a:t>
            </a:r>
            <a:endParaRPr b="1">
              <a:latin typeface="Lato"/>
              <a:ea typeface="Lato"/>
              <a:cs typeface="Lato"/>
              <a:sym typeface="Lato"/>
            </a:endParaRPr>
          </a:p>
        </p:txBody>
      </p:sp>
      <p:sp>
        <p:nvSpPr>
          <p:cNvPr id="274" name="Google Shape;274;g36dee23fd8d_0_761"/>
          <p:cNvSpPr/>
          <p:nvPr/>
        </p:nvSpPr>
        <p:spPr>
          <a:xfrm>
            <a:off x="1875375" y="1461000"/>
            <a:ext cx="6188700" cy="11127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Lato"/>
                <a:ea typeface="Lato"/>
                <a:cs typeface="Lato"/>
                <a:sym typeface="Lato"/>
              </a:rPr>
              <a:t>Loss Function</a:t>
            </a:r>
            <a:endParaRPr b="1" sz="1000">
              <a:latin typeface="Lato"/>
              <a:ea typeface="Lato"/>
              <a:cs typeface="Lato"/>
              <a:sym typeface="Lato"/>
            </a:endParaRPr>
          </a:p>
        </p:txBody>
      </p:sp>
      <p:sp>
        <p:nvSpPr>
          <p:cNvPr id="275" name="Google Shape;275;g36dee23fd8d_0_761"/>
          <p:cNvSpPr/>
          <p:nvPr/>
        </p:nvSpPr>
        <p:spPr>
          <a:xfrm>
            <a:off x="2019250" y="1888675"/>
            <a:ext cx="1866000" cy="602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Dice Loss</a:t>
            </a:r>
            <a:endParaRPr sz="1200">
              <a:solidFill>
                <a:schemeClr val="lt1"/>
              </a:solidFill>
              <a:latin typeface="Lato"/>
              <a:ea typeface="Lato"/>
              <a:cs typeface="Lato"/>
              <a:sym typeface="Lato"/>
            </a:endParaRPr>
          </a:p>
        </p:txBody>
      </p:sp>
      <p:sp>
        <p:nvSpPr>
          <p:cNvPr id="276" name="Google Shape;276;g36dee23fd8d_0_761"/>
          <p:cNvSpPr/>
          <p:nvPr/>
        </p:nvSpPr>
        <p:spPr>
          <a:xfrm>
            <a:off x="4070550" y="1888675"/>
            <a:ext cx="1866000" cy="602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Cross Entropy </a:t>
            </a:r>
            <a:r>
              <a:rPr lang="en" sz="1200">
                <a:solidFill>
                  <a:schemeClr val="lt1"/>
                </a:solidFill>
                <a:latin typeface="Lato"/>
                <a:ea typeface="Lato"/>
                <a:cs typeface="Lato"/>
                <a:sym typeface="Lato"/>
              </a:rPr>
              <a:t>Loss</a:t>
            </a:r>
            <a:endParaRPr sz="1200">
              <a:solidFill>
                <a:schemeClr val="lt1"/>
              </a:solidFill>
              <a:latin typeface="Lato"/>
              <a:ea typeface="Lato"/>
              <a:cs typeface="Lato"/>
              <a:sym typeface="Lato"/>
            </a:endParaRPr>
          </a:p>
        </p:txBody>
      </p:sp>
      <p:sp>
        <p:nvSpPr>
          <p:cNvPr id="277" name="Google Shape;277;g36dee23fd8d_0_761"/>
          <p:cNvSpPr/>
          <p:nvPr/>
        </p:nvSpPr>
        <p:spPr>
          <a:xfrm>
            <a:off x="6121875" y="1888600"/>
            <a:ext cx="1866000" cy="602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Combined</a:t>
            </a:r>
            <a:endParaRPr sz="1200">
              <a:solidFill>
                <a:schemeClr val="lt1"/>
              </a:solidFill>
              <a:latin typeface="Lato"/>
              <a:ea typeface="Lato"/>
              <a:cs typeface="Lato"/>
              <a:sym typeface="Lato"/>
            </a:endParaRPr>
          </a:p>
        </p:txBody>
      </p:sp>
      <p:sp>
        <p:nvSpPr>
          <p:cNvPr id="278" name="Google Shape;278;g36dee23fd8d_0_761"/>
          <p:cNvSpPr/>
          <p:nvPr/>
        </p:nvSpPr>
        <p:spPr>
          <a:xfrm>
            <a:off x="1539275" y="2920525"/>
            <a:ext cx="6733500" cy="165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n">
                <a:latin typeface="Lato"/>
                <a:ea typeface="Lato"/>
                <a:cs typeface="Lato"/>
                <a:sym typeface="Lato"/>
              </a:rPr>
              <a:t>U-Net</a:t>
            </a:r>
            <a:endParaRPr b="1">
              <a:latin typeface="Lato"/>
              <a:ea typeface="Lato"/>
              <a:cs typeface="Lato"/>
              <a:sym typeface="Lato"/>
            </a:endParaRPr>
          </a:p>
        </p:txBody>
      </p:sp>
      <p:sp>
        <p:nvSpPr>
          <p:cNvPr id="279" name="Google Shape;279;g36dee23fd8d_0_761"/>
          <p:cNvSpPr/>
          <p:nvPr/>
        </p:nvSpPr>
        <p:spPr>
          <a:xfrm>
            <a:off x="1875375" y="3270675"/>
            <a:ext cx="6188700" cy="11127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Lato"/>
                <a:ea typeface="Lato"/>
                <a:cs typeface="Lato"/>
                <a:sym typeface="Lato"/>
              </a:rPr>
              <a:t>Loss Function</a:t>
            </a:r>
            <a:endParaRPr b="1" sz="1000">
              <a:latin typeface="Lato"/>
              <a:ea typeface="Lato"/>
              <a:cs typeface="Lato"/>
              <a:sym typeface="Lato"/>
            </a:endParaRPr>
          </a:p>
        </p:txBody>
      </p:sp>
      <p:sp>
        <p:nvSpPr>
          <p:cNvPr id="280" name="Google Shape;280;g36dee23fd8d_0_761"/>
          <p:cNvSpPr/>
          <p:nvPr/>
        </p:nvSpPr>
        <p:spPr>
          <a:xfrm>
            <a:off x="2019250" y="3698350"/>
            <a:ext cx="1866000" cy="602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Dice Loss</a:t>
            </a:r>
            <a:endParaRPr sz="1200">
              <a:solidFill>
                <a:schemeClr val="lt1"/>
              </a:solidFill>
              <a:latin typeface="Lato"/>
              <a:ea typeface="Lato"/>
              <a:cs typeface="Lato"/>
              <a:sym typeface="Lato"/>
            </a:endParaRPr>
          </a:p>
        </p:txBody>
      </p:sp>
      <p:sp>
        <p:nvSpPr>
          <p:cNvPr id="281" name="Google Shape;281;g36dee23fd8d_0_761"/>
          <p:cNvSpPr/>
          <p:nvPr/>
        </p:nvSpPr>
        <p:spPr>
          <a:xfrm>
            <a:off x="4070550" y="3698350"/>
            <a:ext cx="1866000" cy="602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Cross Entropy Loss</a:t>
            </a:r>
            <a:endParaRPr sz="1200">
              <a:solidFill>
                <a:schemeClr val="lt1"/>
              </a:solidFill>
              <a:latin typeface="Lato"/>
              <a:ea typeface="Lato"/>
              <a:cs typeface="Lato"/>
              <a:sym typeface="Lato"/>
            </a:endParaRPr>
          </a:p>
        </p:txBody>
      </p:sp>
      <p:sp>
        <p:nvSpPr>
          <p:cNvPr id="282" name="Google Shape;282;g36dee23fd8d_0_761"/>
          <p:cNvSpPr/>
          <p:nvPr/>
        </p:nvSpPr>
        <p:spPr>
          <a:xfrm>
            <a:off x="6121875" y="3698275"/>
            <a:ext cx="1866000" cy="602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Combined</a:t>
            </a:r>
            <a:endParaRPr sz="1200">
              <a:solidFill>
                <a:schemeClr val="lt1"/>
              </a:solidFill>
              <a:latin typeface="Lato"/>
              <a:ea typeface="Lato"/>
              <a:cs typeface="Lato"/>
              <a:sym typeface="Lato"/>
            </a:endParaRPr>
          </a:p>
        </p:txBody>
      </p:sp>
      <p:sp>
        <p:nvSpPr>
          <p:cNvPr id="283" name="Google Shape;283;g36dee23fd8d_0_761"/>
          <p:cNvSpPr txBox="1"/>
          <p:nvPr/>
        </p:nvSpPr>
        <p:spPr>
          <a:xfrm>
            <a:off x="1539275" y="4635750"/>
            <a:ext cx="6733500" cy="36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Lato"/>
                <a:ea typeface="Lato"/>
                <a:cs typeface="Lato"/>
                <a:sym typeface="Lato"/>
              </a:rPr>
              <a:t>Combined = 0.5 * Dice Loss + 0.5 * Cross Entropy Loss</a:t>
            </a:r>
            <a:endParaRPr b="1" sz="1300">
              <a:solidFill>
                <a:schemeClr val="l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Training protocol</a:t>
            </a:r>
            <a:endParaRPr/>
          </a:p>
        </p:txBody>
      </p:sp>
      <p:sp>
        <p:nvSpPr>
          <p:cNvPr id="289" name="Google Shape;289;p7"/>
          <p:cNvSpPr txBox="1"/>
          <p:nvPr>
            <p:ph idx="1" type="body"/>
          </p:nvPr>
        </p:nvSpPr>
        <p:spPr>
          <a:xfrm>
            <a:off x="963375" y="1044000"/>
            <a:ext cx="1878000" cy="4056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525"/>
              <a:t>Hyperparameters:</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p:txBody>
      </p:sp>
      <p:graphicFrame>
        <p:nvGraphicFramePr>
          <p:cNvPr id="290" name="Google Shape;290;p7"/>
          <p:cNvGraphicFramePr/>
          <p:nvPr/>
        </p:nvGraphicFramePr>
        <p:xfrm>
          <a:off x="440725" y="1438388"/>
          <a:ext cx="3000000" cy="3000000"/>
        </p:xfrm>
        <a:graphic>
          <a:graphicData uri="http://schemas.openxmlformats.org/drawingml/2006/table">
            <a:tbl>
              <a:tblPr>
                <a:noFill/>
                <a:tableStyleId>{C9986B6E-438F-426F-83E9-423C8B15F6CA}</a:tableStyleId>
              </a:tblPr>
              <a:tblGrid>
                <a:gridCol w="893400"/>
                <a:gridCol w="1701675"/>
              </a:tblGrid>
              <a:tr h="311825">
                <a:tc>
                  <a:txBody>
                    <a:bodyPr/>
                    <a:lstStyle/>
                    <a:p>
                      <a:pPr indent="0" lvl="0" marL="0" rtl="0" algn="l">
                        <a:spcBef>
                          <a:spcPts val="0"/>
                        </a:spcBef>
                        <a:spcAft>
                          <a:spcPts val="0"/>
                        </a:spcAft>
                        <a:buNone/>
                      </a:pPr>
                      <a:r>
                        <a:rPr b="1" lang="en" sz="900">
                          <a:solidFill>
                            <a:schemeClr val="dk1"/>
                          </a:solidFill>
                          <a:latin typeface="Lato"/>
                          <a:ea typeface="Lato"/>
                          <a:cs typeface="Lato"/>
                          <a:sym typeface="Lato"/>
                        </a:rPr>
                        <a:t>Parameter</a:t>
                      </a:r>
                      <a:endParaRPr b="1" sz="900">
                        <a:solidFill>
                          <a:schemeClr val="dk1"/>
                        </a:solidFill>
                        <a:latin typeface="Lato"/>
                        <a:ea typeface="Lato"/>
                        <a:cs typeface="Lato"/>
                        <a:sym typeface="Lato"/>
                      </a:endParaRPr>
                    </a:p>
                  </a:txBody>
                  <a:tcPr marT="91425" marB="91425" marR="91425" marL="91425">
                    <a:solidFill>
                      <a:schemeClr val="lt2"/>
                    </a:solidFill>
                  </a:tcPr>
                </a:tc>
                <a:tc>
                  <a:txBody>
                    <a:bodyPr/>
                    <a:lstStyle/>
                    <a:p>
                      <a:pPr indent="0" lvl="0" marL="0" rtl="0" algn="l">
                        <a:spcBef>
                          <a:spcPts val="0"/>
                        </a:spcBef>
                        <a:spcAft>
                          <a:spcPts val="0"/>
                        </a:spcAft>
                        <a:buNone/>
                      </a:pPr>
                      <a:r>
                        <a:rPr b="1" lang="en" sz="900">
                          <a:solidFill>
                            <a:schemeClr val="dk1"/>
                          </a:solidFill>
                          <a:latin typeface="Lato"/>
                          <a:ea typeface="Lato"/>
                          <a:cs typeface="Lato"/>
                          <a:sym typeface="Lato"/>
                        </a:rPr>
                        <a:t>Value</a:t>
                      </a:r>
                      <a:endParaRPr b="1" sz="900">
                        <a:solidFill>
                          <a:schemeClr val="dk1"/>
                        </a:solidFill>
                        <a:latin typeface="Lato"/>
                        <a:ea typeface="Lato"/>
                        <a:cs typeface="Lato"/>
                        <a:sym typeface="Lato"/>
                      </a:endParaRPr>
                    </a:p>
                  </a:txBody>
                  <a:tcPr marT="91425" marB="91425" marR="91425" marL="91425">
                    <a:solidFill>
                      <a:schemeClr val="lt2"/>
                    </a:solidFill>
                  </a:tcPr>
                </a:tc>
              </a:tr>
              <a:tr h="3118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Train Data</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367</a:t>
                      </a:r>
                      <a:endParaRPr sz="900">
                        <a:solidFill>
                          <a:schemeClr val="lt1"/>
                        </a:solidFill>
                        <a:latin typeface="Lato"/>
                        <a:ea typeface="Lato"/>
                        <a:cs typeface="Lato"/>
                        <a:sym typeface="Lato"/>
                      </a:endParaRPr>
                    </a:p>
                  </a:txBody>
                  <a:tcPr marT="91425" marB="91425" marR="91425" marL="91425"/>
                </a:tc>
              </a:tr>
              <a:tr h="4470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Validation Data</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101</a:t>
                      </a:r>
                      <a:endParaRPr sz="900">
                        <a:solidFill>
                          <a:schemeClr val="lt1"/>
                        </a:solidFill>
                        <a:latin typeface="Lato"/>
                        <a:ea typeface="Lato"/>
                        <a:cs typeface="Lato"/>
                        <a:sym typeface="Lato"/>
                      </a:endParaRPr>
                    </a:p>
                  </a:txBody>
                  <a:tcPr marT="91425" marB="91425" marR="91425" marL="91425"/>
                </a:tc>
              </a:tr>
              <a:tr h="3118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Optimizer</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Adam</a:t>
                      </a:r>
                      <a:endParaRPr sz="900">
                        <a:solidFill>
                          <a:schemeClr val="lt1"/>
                        </a:solidFill>
                        <a:latin typeface="Lato"/>
                        <a:ea typeface="Lato"/>
                        <a:cs typeface="Lato"/>
                        <a:sym typeface="Lato"/>
                      </a:endParaRPr>
                    </a:p>
                  </a:txBody>
                  <a:tcPr marT="91425" marB="91425" marR="91425" marL="91425"/>
                </a:tc>
              </a:tr>
              <a:tr h="3118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Learning Rate</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1e-3</a:t>
                      </a:r>
                      <a:r>
                        <a:rPr lang="en" sz="900">
                          <a:solidFill>
                            <a:schemeClr val="lt1"/>
                          </a:solidFill>
                          <a:latin typeface="Lato"/>
                          <a:ea typeface="Lato"/>
                          <a:cs typeface="Lato"/>
                          <a:sym typeface="Lato"/>
                        </a:rPr>
                        <a:t>, with Scheduler</a:t>
                      </a:r>
                      <a:endParaRPr sz="900">
                        <a:solidFill>
                          <a:schemeClr val="lt1"/>
                        </a:solidFill>
                        <a:latin typeface="Lato"/>
                        <a:ea typeface="Lato"/>
                        <a:cs typeface="Lato"/>
                        <a:sym typeface="Lato"/>
                      </a:endParaRPr>
                    </a:p>
                  </a:txBody>
                  <a:tcPr marT="91425" marB="91425" marR="91425" marL="91425"/>
                </a:tc>
              </a:tr>
              <a:tr h="5791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Loss Function</a:t>
                      </a:r>
                      <a:endParaRPr sz="900">
                        <a:solidFill>
                          <a:schemeClr val="lt1"/>
                        </a:solidFill>
                        <a:latin typeface="Lato"/>
                        <a:ea typeface="Lato"/>
                        <a:cs typeface="Lato"/>
                        <a:sym typeface="Lato"/>
                      </a:endParaRPr>
                    </a:p>
                  </a:txBody>
                  <a:tcPr marT="91425" marB="91425" marR="91425" marL="91425"/>
                </a:tc>
                <a:tc>
                  <a:txBody>
                    <a:bodyPr/>
                    <a:lstStyle/>
                    <a:p>
                      <a:pPr indent="-285750" lvl="0" marL="4572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Dice Loss</a:t>
                      </a:r>
                      <a:endParaRPr sz="900">
                        <a:solidFill>
                          <a:schemeClr val="lt1"/>
                        </a:solidFill>
                        <a:latin typeface="Lato"/>
                        <a:ea typeface="Lato"/>
                        <a:cs typeface="Lato"/>
                        <a:sym typeface="Lato"/>
                      </a:endParaRPr>
                    </a:p>
                    <a:p>
                      <a:pPr indent="-285750" lvl="0" marL="4572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Cross Entropy Loss,</a:t>
                      </a:r>
                      <a:endParaRPr sz="900">
                        <a:solidFill>
                          <a:schemeClr val="lt1"/>
                        </a:solidFill>
                        <a:latin typeface="Lato"/>
                        <a:ea typeface="Lato"/>
                        <a:cs typeface="Lato"/>
                        <a:sym typeface="Lato"/>
                      </a:endParaRPr>
                    </a:p>
                    <a:p>
                      <a:pPr indent="-285750" lvl="0" marL="4572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Combined</a:t>
                      </a:r>
                      <a:endParaRPr sz="900">
                        <a:solidFill>
                          <a:schemeClr val="lt1"/>
                        </a:solidFill>
                        <a:latin typeface="Lato"/>
                        <a:ea typeface="Lato"/>
                        <a:cs typeface="Lato"/>
                        <a:sym typeface="Lato"/>
                      </a:endParaRPr>
                    </a:p>
                  </a:txBody>
                  <a:tcPr marT="91425" marB="91425" marR="91425" marL="91425"/>
                </a:tc>
              </a:tr>
              <a:tr h="3118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Epoch</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60</a:t>
                      </a:r>
                      <a:endParaRPr sz="900">
                        <a:solidFill>
                          <a:schemeClr val="lt1"/>
                        </a:solidFill>
                        <a:latin typeface="Lato"/>
                        <a:ea typeface="Lato"/>
                        <a:cs typeface="Lato"/>
                        <a:sym typeface="Lato"/>
                      </a:endParaRPr>
                    </a:p>
                  </a:txBody>
                  <a:tcPr marT="91425" marB="91425" marR="91425" marL="91425"/>
                </a:tc>
              </a:tr>
              <a:tr h="3118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Batch Size</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32</a:t>
                      </a:r>
                      <a:endParaRPr sz="900">
                        <a:solidFill>
                          <a:schemeClr val="lt1"/>
                        </a:solidFill>
                        <a:latin typeface="Lato"/>
                        <a:ea typeface="Lato"/>
                        <a:cs typeface="Lato"/>
                        <a:sym typeface="Lato"/>
                      </a:endParaRPr>
                    </a:p>
                  </a:txBody>
                  <a:tcPr marT="91425" marB="91425" marR="91425" marL="91425"/>
                </a:tc>
              </a:tr>
              <a:tr h="579125">
                <a:tc gridSpan="2">
                  <a:txBody>
                    <a:bodyPr/>
                    <a:lstStyle/>
                    <a:p>
                      <a:pPr indent="0" lvl="0" marL="0" rtl="0" algn="l">
                        <a:spcBef>
                          <a:spcPts val="0"/>
                        </a:spcBef>
                        <a:spcAft>
                          <a:spcPts val="0"/>
                        </a:spcAft>
                        <a:buNone/>
                      </a:pPr>
                      <a:r>
                        <a:rPr lang="en" sz="900">
                          <a:solidFill>
                            <a:schemeClr val="lt1"/>
                          </a:solidFill>
                          <a:latin typeface="Lato"/>
                          <a:ea typeface="Lato"/>
                          <a:cs typeface="Lato"/>
                          <a:sym typeface="Lato"/>
                        </a:rPr>
                        <a:t>Other default params: </a:t>
                      </a:r>
                      <a:endParaRPr sz="900">
                        <a:solidFill>
                          <a:schemeClr val="lt1"/>
                        </a:solidFill>
                        <a:latin typeface="Lato"/>
                        <a:ea typeface="Lato"/>
                        <a:cs typeface="Lato"/>
                        <a:sym typeface="Lato"/>
                      </a:endParaRPr>
                    </a:p>
                    <a:p>
                      <a:pPr indent="0" lvl="0" marL="0" rtl="0" algn="l">
                        <a:spcBef>
                          <a:spcPts val="0"/>
                        </a:spcBef>
                        <a:spcAft>
                          <a:spcPts val="0"/>
                        </a:spcAft>
                        <a:buNone/>
                      </a:pPr>
                      <a:r>
                        <a:rPr lang="en" sz="900" u="sng">
                          <a:solidFill>
                            <a:schemeClr val="hlink"/>
                          </a:solidFill>
                          <a:latin typeface="Lato"/>
                          <a:ea typeface="Lato"/>
                          <a:cs typeface="Lato"/>
                          <a:sym typeface="Lato"/>
                          <a:hlinkClick r:id="rId3"/>
                        </a:rPr>
                        <a:t>https://docs.pytorch.org/docs/stable/generated/torch.optim.Adam.html</a:t>
                      </a:r>
                      <a:r>
                        <a:rPr lang="en" sz="900">
                          <a:solidFill>
                            <a:schemeClr val="lt1"/>
                          </a:solidFill>
                          <a:latin typeface="Lato"/>
                          <a:ea typeface="Lato"/>
                          <a:cs typeface="Lato"/>
                          <a:sym typeface="Lato"/>
                        </a:rPr>
                        <a:t> </a:t>
                      </a:r>
                      <a:endParaRPr sz="900">
                        <a:solidFill>
                          <a:schemeClr val="lt1"/>
                        </a:solidFill>
                        <a:latin typeface="Lato"/>
                        <a:ea typeface="Lato"/>
                        <a:cs typeface="Lato"/>
                        <a:sym typeface="Lato"/>
                      </a:endParaRPr>
                    </a:p>
                  </a:txBody>
                  <a:tcPr marT="91425" marB="91425" marR="91425" marL="91425"/>
                </a:tc>
                <a:tc hMerge="1"/>
              </a:tr>
            </a:tbl>
          </a:graphicData>
        </a:graphic>
      </p:graphicFrame>
      <p:sp>
        <p:nvSpPr>
          <p:cNvPr id="291" name="Google Shape;291;p7"/>
          <p:cNvSpPr txBox="1"/>
          <p:nvPr>
            <p:ph idx="1" type="body"/>
          </p:nvPr>
        </p:nvSpPr>
        <p:spPr>
          <a:xfrm>
            <a:off x="3462300" y="1044000"/>
            <a:ext cx="2284200" cy="4056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1525"/>
              <a:t>Learning Rate Scheduler</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a:p>
            <a:pPr indent="0" lvl="0" marL="0" rtl="0" algn="l">
              <a:lnSpc>
                <a:spcPct val="95000"/>
              </a:lnSpc>
              <a:spcBef>
                <a:spcPts val="1200"/>
              </a:spcBef>
              <a:spcAft>
                <a:spcPts val="0"/>
              </a:spcAft>
              <a:buSzPts val="325"/>
              <a:buNone/>
            </a:pPr>
            <a:r>
              <a:t/>
            </a:r>
            <a:endParaRPr sz="1525"/>
          </a:p>
        </p:txBody>
      </p:sp>
      <p:graphicFrame>
        <p:nvGraphicFramePr>
          <p:cNvPr id="292" name="Google Shape;292;p7"/>
          <p:cNvGraphicFramePr/>
          <p:nvPr/>
        </p:nvGraphicFramePr>
        <p:xfrm>
          <a:off x="3185363" y="1449588"/>
          <a:ext cx="3000000" cy="3000000"/>
        </p:xfrm>
        <a:graphic>
          <a:graphicData uri="http://schemas.openxmlformats.org/drawingml/2006/table">
            <a:tbl>
              <a:tblPr>
                <a:noFill/>
                <a:tableStyleId>{C9986B6E-438F-426F-83E9-423C8B15F6CA}</a:tableStyleId>
              </a:tblPr>
              <a:tblGrid>
                <a:gridCol w="1419100"/>
                <a:gridCol w="1418975"/>
              </a:tblGrid>
              <a:tr h="335300">
                <a:tc>
                  <a:txBody>
                    <a:bodyPr/>
                    <a:lstStyle/>
                    <a:p>
                      <a:pPr indent="0" lvl="0" marL="0" rtl="0" algn="l">
                        <a:spcBef>
                          <a:spcPts val="0"/>
                        </a:spcBef>
                        <a:spcAft>
                          <a:spcPts val="0"/>
                        </a:spcAft>
                        <a:buNone/>
                      </a:pPr>
                      <a:r>
                        <a:rPr b="1" lang="en" sz="900">
                          <a:solidFill>
                            <a:schemeClr val="dk1"/>
                          </a:solidFill>
                          <a:latin typeface="Lato"/>
                          <a:ea typeface="Lato"/>
                          <a:cs typeface="Lato"/>
                          <a:sym typeface="Lato"/>
                        </a:rPr>
                        <a:t>Parameter</a:t>
                      </a:r>
                      <a:endParaRPr b="1" sz="900">
                        <a:solidFill>
                          <a:schemeClr val="dk1"/>
                        </a:solidFill>
                        <a:latin typeface="Lato"/>
                        <a:ea typeface="Lato"/>
                        <a:cs typeface="Lato"/>
                        <a:sym typeface="Lato"/>
                      </a:endParaRPr>
                    </a:p>
                  </a:txBody>
                  <a:tcPr marT="91425" marB="91425" marR="91425" marL="91425">
                    <a:solidFill>
                      <a:schemeClr val="lt2"/>
                    </a:solidFill>
                  </a:tcPr>
                </a:tc>
                <a:tc>
                  <a:txBody>
                    <a:bodyPr/>
                    <a:lstStyle/>
                    <a:p>
                      <a:pPr indent="0" lvl="0" marL="0" rtl="0" algn="l">
                        <a:spcBef>
                          <a:spcPts val="0"/>
                        </a:spcBef>
                        <a:spcAft>
                          <a:spcPts val="0"/>
                        </a:spcAft>
                        <a:buNone/>
                      </a:pPr>
                      <a:r>
                        <a:rPr b="1" lang="en" sz="900">
                          <a:solidFill>
                            <a:schemeClr val="dk1"/>
                          </a:solidFill>
                          <a:latin typeface="Lato"/>
                          <a:ea typeface="Lato"/>
                          <a:cs typeface="Lato"/>
                          <a:sym typeface="Lato"/>
                        </a:rPr>
                        <a:t>Value</a:t>
                      </a:r>
                      <a:endParaRPr b="1" sz="900">
                        <a:solidFill>
                          <a:schemeClr val="dk1"/>
                        </a:solidFill>
                        <a:latin typeface="Lato"/>
                        <a:ea typeface="Lato"/>
                        <a:cs typeface="Lato"/>
                        <a:sym typeface="Lato"/>
                      </a:endParaRPr>
                    </a:p>
                  </a:txBody>
                  <a:tcPr marT="91425" marB="91425" marR="91425" marL="91425">
                    <a:solidFill>
                      <a:schemeClr val="lt2"/>
                    </a:solidFill>
                  </a:tcPr>
                </a:tc>
              </a:tr>
              <a:tr h="3353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Type</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ReduceLROnPlateau</a:t>
                      </a:r>
                      <a:endParaRPr sz="900">
                        <a:solidFill>
                          <a:schemeClr val="lt1"/>
                        </a:solidFill>
                        <a:latin typeface="Lato"/>
                        <a:ea typeface="Lato"/>
                        <a:cs typeface="Lato"/>
                        <a:sym typeface="Lato"/>
                      </a:endParaRPr>
                    </a:p>
                  </a:txBody>
                  <a:tcPr marT="91425" marB="91425" marR="91425" marL="91425"/>
                </a:tc>
              </a:tr>
              <a:tr h="3353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Factor</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0.1</a:t>
                      </a:r>
                      <a:endParaRPr sz="900">
                        <a:solidFill>
                          <a:schemeClr val="lt1"/>
                        </a:solidFill>
                        <a:latin typeface="Lato"/>
                        <a:ea typeface="Lato"/>
                        <a:cs typeface="Lato"/>
                        <a:sym typeface="Lato"/>
                      </a:endParaRPr>
                    </a:p>
                  </a:txBody>
                  <a:tcPr marT="91425" marB="91425" marR="91425" marL="91425"/>
                </a:tc>
              </a:tr>
              <a:tr h="3353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Patience</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10</a:t>
                      </a:r>
                      <a:endParaRPr sz="900">
                        <a:solidFill>
                          <a:schemeClr val="lt1"/>
                        </a:solidFill>
                        <a:latin typeface="Lato"/>
                        <a:ea typeface="Lato"/>
                        <a:cs typeface="Lato"/>
                        <a:sym typeface="Lato"/>
                      </a:endParaRPr>
                    </a:p>
                  </a:txBody>
                  <a:tcPr marT="91425" marB="91425" marR="91425" marL="91425"/>
                </a:tc>
              </a:tr>
              <a:tr h="3565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Threshold</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0.01</a:t>
                      </a:r>
                      <a:endParaRPr sz="900">
                        <a:solidFill>
                          <a:schemeClr val="lt1"/>
                        </a:solidFill>
                        <a:latin typeface="Lato"/>
                        <a:ea typeface="Lato"/>
                        <a:cs typeface="Lato"/>
                        <a:sym typeface="Lato"/>
                      </a:endParaRPr>
                    </a:p>
                  </a:txBody>
                  <a:tcPr marT="91425" marB="91425" marR="91425" marL="91425"/>
                </a:tc>
              </a:tr>
              <a:tr h="3377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Threshold Model</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rel (Relative)</a:t>
                      </a:r>
                      <a:endParaRPr sz="900">
                        <a:solidFill>
                          <a:schemeClr val="lt1"/>
                        </a:solidFill>
                        <a:latin typeface="Lato"/>
                        <a:ea typeface="Lato"/>
                        <a:cs typeface="Lato"/>
                        <a:sym typeface="Lato"/>
                      </a:endParaRPr>
                    </a:p>
                  </a:txBody>
                  <a:tcPr marT="91425" marB="91425" marR="91425" marL="91425"/>
                </a:tc>
              </a:tr>
              <a:tr h="3353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Cooldown</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2</a:t>
                      </a:r>
                      <a:endParaRPr sz="900">
                        <a:solidFill>
                          <a:schemeClr val="lt1"/>
                        </a:solidFill>
                        <a:latin typeface="Lato"/>
                        <a:ea typeface="Lato"/>
                        <a:cs typeface="Lato"/>
                        <a:sym typeface="Lato"/>
                      </a:endParaRPr>
                    </a:p>
                  </a:txBody>
                  <a:tcPr marT="91425" marB="91425" marR="91425" marL="91425"/>
                </a:tc>
              </a:tr>
              <a:tr h="3353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Min Learning Rate</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1e-6</a:t>
                      </a:r>
                      <a:endParaRPr sz="900">
                        <a:solidFill>
                          <a:schemeClr val="lt1"/>
                        </a:solidFill>
                        <a:latin typeface="Lato"/>
                        <a:ea typeface="Lato"/>
                        <a:cs typeface="Lato"/>
                        <a:sym typeface="Lato"/>
                      </a:endParaRPr>
                    </a:p>
                  </a:txBody>
                  <a:tcPr marT="91425" marB="91425" marR="91425" marL="91425"/>
                </a:tc>
              </a:tr>
              <a:tr h="335300">
                <a:tc gridSpan="2">
                  <a:txBody>
                    <a:bodyPr/>
                    <a:lstStyle/>
                    <a:p>
                      <a:pPr indent="0" lvl="0" marL="0" rtl="0" algn="l">
                        <a:spcBef>
                          <a:spcPts val="0"/>
                        </a:spcBef>
                        <a:spcAft>
                          <a:spcPts val="0"/>
                        </a:spcAft>
                        <a:buNone/>
                      </a:pPr>
                      <a:r>
                        <a:rPr lang="en" sz="900">
                          <a:solidFill>
                            <a:schemeClr val="lt1"/>
                          </a:solidFill>
                          <a:latin typeface="Lato"/>
                          <a:ea typeface="Lato"/>
                          <a:cs typeface="Lato"/>
                          <a:sym typeface="Lato"/>
                        </a:rPr>
                        <a:t>Other default params:</a:t>
                      </a:r>
                      <a:endParaRPr sz="900">
                        <a:solidFill>
                          <a:schemeClr val="lt1"/>
                        </a:solidFill>
                        <a:latin typeface="Lato"/>
                        <a:ea typeface="Lato"/>
                        <a:cs typeface="Lato"/>
                        <a:sym typeface="Lato"/>
                      </a:endParaRPr>
                    </a:p>
                    <a:p>
                      <a:pPr indent="0" lvl="0" marL="0" rtl="0" algn="l">
                        <a:spcBef>
                          <a:spcPts val="0"/>
                        </a:spcBef>
                        <a:spcAft>
                          <a:spcPts val="0"/>
                        </a:spcAft>
                        <a:buNone/>
                      </a:pPr>
                      <a:r>
                        <a:rPr lang="en" sz="900" u="sng">
                          <a:solidFill>
                            <a:schemeClr val="hlink"/>
                          </a:solidFill>
                          <a:latin typeface="Lato"/>
                          <a:ea typeface="Lato"/>
                          <a:cs typeface="Lato"/>
                          <a:sym typeface="Lato"/>
                          <a:hlinkClick r:id="rId4"/>
                        </a:rPr>
                        <a:t>https://docs.pytorch.org/docs/stable/generated/torch.optim.lr_scheduler.ReduceLROnPlateau.html</a:t>
                      </a:r>
                      <a:r>
                        <a:rPr lang="en" sz="900">
                          <a:solidFill>
                            <a:schemeClr val="lt1"/>
                          </a:solidFill>
                          <a:latin typeface="Lato"/>
                          <a:ea typeface="Lato"/>
                          <a:cs typeface="Lato"/>
                          <a:sym typeface="Lato"/>
                        </a:rPr>
                        <a:t> </a:t>
                      </a:r>
                      <a:endParaRPr sz="900">
                        <a:solidFill>
                          <a:schemeClr val="lt1"/>
                        </a:solidFill>
                        <a:latin typeface="Lato"/>
                        <a:ea typeface="Lato"/>
                        <a:cs typeface="Lato"/>
                        <a:sym typeface="Lato"/>
                      </a:endParaRPr>
                    </a:p>
                  </a:txBody>
                  <a:tcPr marT="91425" marB="91425" marR="91425" marL="91425"/>
                </a:tc>
                <a:tc hMerge="1"/>
              </a:tr>
            </a:tbl>
          </a:graphicData>
        </a:graphic>
      </p:graphicFrame>
      <p:graphicFrame>
        <p:nvGraphicFramePr>
          <p:cNvPr id="293" name="Google Shape;293;p7"/>
          <p:cNvGraphicFramePr/>
          <p:nvPr/>
        </p:nvGraphicFramePr>
        <p:xfrm>
          <a:off x="6173013" y="1438388"/>
          <a:ext cx="3000000" cy="3000000"/>
        </p:xfrm>
        <a:graphic>
          <a:graphicData uri="http://schemas.openxmlformats.org/drawingml/2006/table">
            <a:tbl>
              <a:tblPr>
                <a:noFill/>
                <a:tableStyleId>{C9986B6E-438F-426F-83E9-423C8B15F6CA}</a:tableStyleId>
              </a:tblPr>
              <a:tblGrid>
                <a:gridCol w="1263975"/>
                <a:gridCol w="1574100"/>
              </a:tblGrid>
              <a:tr h="335300">
                <a:tc>
                  <a:txBody>
                    <a:bodyPr/>
                    <a:lstStyle/>
                    <a:p>
                      <a:pPr indent="0" lvl="0" marL="0" rtl="0" algn="l">
                        <a:spcBef>
                          <a:spcPts val="0"/>
                        </a:spcBef>
                        <a:spcAft>
                          <a:spcPts val="0"/>
                        </a:spcAft>
                        <a:buNone/>
                      </a:pPr>
                      <a:r>
                        <a:rPr b="1" lang="en" sz="900">
                          <a:solidFill>
                            <a:schemeClr val="dk1"/>
                          </a:solidFill>
                          <a:latin typeface="Lato"/>
                          <a:ea typeface="Lato"/>
                          <a:cs typeface="Lato"/>
                          <a:sym typeface="Lato"/>
                        </a:rPr>
                        <a:t>Parameter</a:t>
                      </a:r>
                      <a:endParaRPr b="1" sz="900">
                        <a:solidFill>
                          <a:schemeClr val="dk1"/>
                        </a:solidFill>
                        <a:latin typeface="Lato"/>
                        <a:ea typeface="Lato"/>
                        <a:cs typeface="Lato"/>
                        <a:sym typeface="Lato"/>
                      </a:endParaRPr>
                    </a:p>
                  </a:txBody>
                  <a:tcPr marT="91425" marB="91425" marR="91425" marL="91425">
                    <a:solidFill>
                      <a:schemeClr val="lt2"/>
                    </a:solidFill>
                  </a:tcPr>
                </a:tc>
                <a:tc>
                  <a:txBody>
                    <a:bodyPr/>
                    <a:lstStyle/>
                    <a:p>
                      <a:pPr indent="0" lvl="0" marL="0" rtl="0" algn="l">
                        <a:spcBef>
                          <a:spcPts val="0"/>
                        </a:spcBef>
                        <a:spcAft>
                          <a:spcPts val="0"/>
                        </a:spcAft>
                        <a:buNone/>
                      </a:pPr>
                      <a:r>
                        <a:rPr b="1" lang="en" sz="900">
                          <a:solidFill>
                            <a:schemeClr val="dk1"/>
                          </a:solidFill>
                          <a:latin typeface="Lato"/>
                          <a:ea typeface="Lato"/>
                          <a:cs typeface="Lato"/>
                          <a:sym typeface="Lato"/>
                        </a:rPr>
                        <a:t>Value</a:t>
                      </a:r>
                      <a:endParaRPr b="1" sz="900">
                        <a:solidFill>
                          <a:schemeClr val="dk1"/>
                        </a:solidFill>
                        <a:latin typeface="Lato"/>
                        <a:ea typeface="Lato"/>
                        <a:cs typeface="Lato"/>
                        <a:sym typeface="Lato"/>
                      </a:endParaRPr>
                    </a:p>
                  </a:txBody>
                  <a:tcPr marT="91425" marB="91425" marR="91425" marL="91425">
                    <a:solidFill>
                      <a:schemeClr val="lt2"/>
                    </a:solidFill>
                  </a:tcPr>
                </a:tc>
              </a:tr>
              <a:tr h="3353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Resize</a:t>
                      </a:r>
                      <a:endParaRPr sz="900">
                        <a:solidFill>
                          <a:schemeClr val="lt1"/>
                        </a:solidFill>
                        <a:latin typeface="Lato"/>
                        <a:ea typeface="Lato"/>
                        <a:cs typeface="Lato"/>
                        <a:sym typeface="Lato"/>
                      </a:endParaRPr>
                    </a:p>
                  </a:txBody>
                  <a:tcPr marT="91425" marB="91425" marR="91425" marL="91425"/>
                </a:tc>
                <a:tc>
                  <a:txBody>
                    <a:bodyPr/>
                    <a:lstStyle/>
                    <a:p>
                      <a:pPr indent="-171450" lvl="0" marL="2286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Size: 256x256</a:t>
                      </a:r>
                      <a:endParaRPr sz="900">
                        <a:solidFill>
                          <a:schemeClr val="lt1"/>
                        </a:solidFill>
                        <a:latin typeface="Lato"/>
                        <a:ea typeface="Lato"/>
                        <a:cs typeface="Lato"/>
                        <a:sym typeface="Lato"/>
                      </a:endParaRPr>
                    </a:p>
                  </a:txBody>
                  <a:tcPr marT="91425" marB="91425" marR="91425" marL="91425"/>
                </a:tc>
              </a:tr>
              <a:tr h="3353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HorizontalFlip</a:t>
                      </a:r>
                      <a:endParaRPr sz="900">
                        <a:solidFill>
                          <a:schemeClr val="l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P: </a:t>
                      </a:r>
                      <a:r>
                        <a:rPr lang="en" sz="900">
                          <a:solidFill>
                            <a:schemeClr val="lt1"/>
                          </a:solidFill>
                          <a:latin typeface="Lato"/>
                          <a:ea typeface="Lato"/>
                          <a:cs typeface="Lato"/>
                          <a:sym typeface="Lato"/>
                        </a:rPr>
                        <a:t>0.5</a:t>
                      </a:r>
                      <a:endParaRPr sz="900">
                        <a:solidFill>
                          <a:schemeClr val="lt1"/>
                        </a:solidFill>
                        <a:latin typeface="Lato"/>
                        <a:ea typeface="Lato"/>
                        <a:cs typeface="Lato"/>
                        <a:sym typeface="Lato"/>
                      </a:endParaRPr>
                    </a:p>
                  </a:txBody>
                  <a:tcPr marT="91425" marB="91425" marR="91425" marL="91425"/>
                </a:tc>
              </a:tr>
              <a:tr h="335300">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ColorJitter</a:t>
                      </a:r>
                      <a:endParaRPr sz="900">
                        <a:solidFill>
                          <a:schemeClr val="lt1"/>
                        </a:solidFill>
                        <a:latin typeface="Lato"/>
                        <a:ea typeface="Lato"/>
                        <a:cs typeface="Lato"/>
                        <a:sym typeface="Lato"/>
                      </a:endParaRPr>
                    </a:p>
                  </a:txBody>
                  <a:tcPr marT="91425" marB="91425" marR="91425" marL="91425"/>
                </a:tc>
                <a:tc>
                  <a:txBody>
                    <a:bodyPr/>
                    <a:lstStyle/>
                    <a:p>
                      <a:pPr indent="-171450" lvl="0" marL="2286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Brightness</a:t>
                      </a:r>
                      <a:r>
                        <a:rPr lang="en" sz="900">
                          <a:solidFill>
                            <a:schemeClr val="lt1"/>
                          </a:solidFill>
                          <a:latin typeface="Lato"/>
                          <a:ea typeface="Lato"/>
                          <a:cs typeface="Lato"/>
                          <a:sym typeface="Lato"/>
                        </a:rPr>
                        <a:t>: 0.2</a:t>
                      </a:r>
                      <a:endParaRPr sz="900">
                        <a:solidFill>
                          <a:schemeClr val="lt1"/>
                        </a:solidFill>
                        <a:latin typeface="Lato"/>
                        <a:ea typeface="Lato"/>
                        <a:cs typeface="Lato"/>
                        <a:sym typeface="Lato"/>
                      </a:endParaRPr>
                    </a:p>
                    <a:p>
                      <a:pPr indent="-171450" lvl="0" marL="2286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Contrast: 0.2</a:t>
                      </a:r>
                      <a:endParaRPr sz="900">
                        <a:solidFill>
                          <a:schemeClr val="lt1"/>
                        </a:solidFill>
                        <a:latin typeface="Lato"/>
                        <a:ea typeface="Lato"/>
                        <a:cs typeface="Lato"/>
                        <a:sym typeface="Lato"/>
                      </a:endParaRPr>
                    </a:p>
                    <a:p>
                      <a:pPr indent="-171450" lvl="0" marL="2286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Saturation: 0.2</a:t>
                      </a:r>
                      <a:endParaRPr sz="900">
                        <a:solidFill>
                          <a:schemeClr val="lt1"/>
                        </a:solidFill>
                        <a:latin typeface="Lato"/>
                        <a:ea typeface="Lato"/>
                        <a:cs typeface="Lato"/>
                        <a:sym typeface="Lato"/>
                      </a:endParaRPr>
                    </a:p>
                    <a:p>
                      <a:pPr indent="-171450" lvl="0" marL="2286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Hue: 0.1</a:t>
                      </a:r>
                      <a:endParaRPr sz="900">
                        <a:solidFill>
                          <a:schemeClr val="lt1"/>
                        </a:solidFill>
                        <a:latin typeface="Lato"/>
                        <a:ea typeface="Lato"/>
                        <a:cs typeface="Lato"/>
                        <a:sym typeface="Lato"/>
                      </a:endParaRPr>
                    </a:p>
                    <a:p>
                      <a:pPr indent="-171450" lvl="0" marL="2286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P: 0.5</a:t>
                      </a:r>
                      <a:endParaRPr sz="900">
                        <a:solidFill>
                          <a:schemeClr val="lt1"/>
                        </a:solidFill>
                        <a:latin typeface="Lato"/>
                        <a:ea typeface="Lato"/>
                        <a:cs typeface="Lato"/>
                        <a:sym typeface="Lato"/>
                      </a:endParaRPr>
                    </a:p>
                  </a:txBody>
                  <a:tcPr marT="91425" marB="91425" marR="91425" marL="91425"/>
                </a:tc>
              </a:tr>
              <a:tr h="356525">
                <a:tc>
                  <a:txBody>
                    <a:bodyPr/>
                    <a:lstStyle/>
                    <a:p>
                      <a:pPr indent="0" lvl="0" marL="0" rtl="0" algn="l">
                        <a:spcBef>
                          <a:spcPts val="0"/>
                        </a:spcBef>
                        <a:spcAft>
                          <a:spcPts val="0"/>
                        </a:spcAft>
                        <a:buNone/>
                      </a:pPr>
                      <a:r>
                        <a:rPr lang="en" sz="900">
                          <a:solidFill>
                            <a:schemeClr val="lt1"/>
                          </a:solidFill>
                          <a:latin typeface="Lato"/>
                          <a:ea typeface="Lato"/>
                          <a:cs typeface="Lato"/>
                          <a:sym typeface="Lato"/>
                        </a:rPr>
                        <a:t>Normalize</a:t>
                      </a:r>
                      <a:endParaRPr sz="900">
                        <a:solidFill>
                          <a:schemeClr val="lt1"/>
                        </a:solidFill>
                        <a:latin typeface="Lato"/>
                        <a:ea typeface="Lato"/>
                        <a:cs typeface="Lato"/>
                        <a:sym typeface="Lato"/>
                      </a:endParaRPr>
                    </a:p>
                  </a:txBody>
                  <a:tcPr marT="91425" marB="91425" marR="91425" marL="91425"/>
                </a:tc>
                <a:tc>
                  <a:txBody>
                    <a:bodyPr/>
                    <a:lstStyle/>
                    <a:p>
                      <a:pPr indent="-171450" lvl="0" marL="2286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Mean:</a:t>
                      </a:r>
                      <a:endParaRPr sz="900">
                        <a:solidFill>
                          <a:schemeClr val="lt1"/>
                        </a:solidFill>
                        <a:latin typeface="Lato"/>
                        <a:ea typeface="Lato"/>
                        <a:cs typeface="Lato"/>
                        <a:sym typeface="Lato"/>
                      </a:endParaRPr>
                    </a:p>
                    <a:p>
                      <a:pPr indent="0" lvl="0" marL="228600" rtl="0" algn="l">
                        <a:spcBef>
                          <a:spcPts val="0"/>
                        </a:spcBef>
                        <a:spcAft>
                          <a:spcPts val="0"/>
                        </a:spcAft>
                        <a:buNone/>
                      </a:pPr>
                      <a:r>
                        <a:rPr lang="en" sz="900">
                          <a:solidFill>
                            <a:schemeClr val="lt1"/>
                          </a:solidFill>
                          <a:latin typeface="Lato"/>
                          <a:ea typeface="Lato"/>
                          <a:cs typeface="Lato"/>
                          <a:sym typeface="Lato"/>
                        </a:rPr>
                        <a:t>0.485, 0.456, 0.406</a:t>
                      </a:r>
                      <a:endParaRPr sz="900">
                        <a:solidFill>
                          <a:schemeClr val="lt1"/>
                        </a:solidFill>
                        <a:latin typeface="Lato"/>
                        <a:ea typeface="Lato"/>
                        <a:cs typeface="Lato"/>
                        <a:sym typeface="Lato"/>
                      </a:endParaRPr>
                    </a:p>
                    <a:p>
                      <a:pPr indent="-171450" lvl="0" marL="228600" rtl="0" algn="l">
                        <a:spcBef>
                          <a:spcPts val="0"/>
                        </a:spcBef>
                        <a:spcAft>
                          <a:spcPts val="0"/>
                        </a:spcAft>
                        <a:buClr>
                          <a:schemeClr val="lt1"/>
                        </a:buClr>
                        <a:buSzPts val="900"/>
                        <a:buFont typeface="Lato"/>
                        <a:buChar char="●"/>
                      </a:pPr>
                      <a:r>
                        <a:rPr lang="en" sz="900">
                          <a:solidFill>
                            <a:schemeClr val="lt1"/>
                          </a:solidFill>
                          <a:latin typeface="Lato"/>
                          <a:ea typeface="Lato"/>
                          <a:cs typeface="Lato"/>
                          <a:sym typeface="Lato"/>
                        </a:rPr>
                        <a:t>Std:</a:t>
                      </a:r>
                      <a:endParaRPr sz="900">
                        <a:solidFill>
                          <a:schemeClr val="lt1"/>
                        </a:solidFill>
                        <a:latin typeface="Lato"/>
                        <a:ea typeface="Lato"/>
                        <a:cs typeface="Lato"/>
                        <a:sym typeface="Lato"/>
                      </a:endParaRPr>
                    </a:p>
                    <a:p>
                      <a:pPr indent="0" lvl="0" marL="228600" rtl="0" algn="l">
                        <a:spcBef>
                          <a:spcPts val="0"/>
                        </a:spcBef>
                        <a:spcAft>
                          <a:spcPts val="0"/>
                        </a:spcAft>
                        <a:buNone/>
                      </a:pPr>
                      <a:r>
                        <a:rPr lang="en" sz="900">
                          <a:solidFill>
                            <a:schemeClr val="lt1"/>
                          </a:solidFill>
                          <a:latin typeface="Lato"/>
                          <a:ea typeface="Lato"/>
                          <a:cs typeface="Lato"/>
                          <a:sym typeface="Lato"/>
                        </a:rPr>
                        <a:t>0.229, 0.224, 0.225</a:t>
                      </a:r>
                      <a:endParaRPr sz="900">
                        <a:solidFill>
                          <a:schemeClr val="lt1"/>
                        </a:solidFill>
                        <a:latin typeface="Lato"/>
                        <a:ea typeface="Lato"/>
                        <a:cs typeface="Lato"/>
                        <a:sym typeface="Lato"/>
                      </a:endParaRPr>
                    </a:p>
                  </a:txBody>
                  <a:tcPr marT="91425" marB="91425" marR="91425" marL="91425"/>
                </a:tc>
              </a:tr>
            </a:tbl>
          </a:graphicData>
        </a:graphic>
      </p:graphicFrame>
      <p:sp>
        <p:nvSpPr>
          <p:cNvPr id="294" name="Google Shape;294;p7"/>
          <p:cNvSpPr txBox="1"/>
          <p:nvPr>
            <p:ph idx="1" type="body"/>
          </p:nvPr>
        </p:nvSpPr>
        <p:spPr>
          <a:xfrm>
            <a:off x="6318000" y="1032800"/>
            <a:ext cx="2693100" cy="4056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325"/>
              <a:buNone/>
            </a:pPr>
            <a:r>
              <a:rPr lang="en" sz="1525"/>
              <a:t>Data / Image Augmentation</a:t>
            </a:r>
            <a:endParaRPr sz="1525"/>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8"/>
          <p:cNvSpPr txBox="1"/>
          <p:nvPr>
            <p:ph type="title"/>
          </p:nvPr>
        </p:nvSpPr>
        <p:spPr>
          <a:xfrm>
            <a:off x="1065700" y="436675"/>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Evaluation metrics (FCN8s) </a:t>
            </a:r>
            <a:endParaRPr/>
          </a:p>
        </p:txBody>
      </p:sp>
      <p:sp>
        <p:nvSpPr>
          <p:cNvPr id="300" name="Google Shape;300;p8"/>
          <p:cNvSpPr txBox="1"/>
          <p:nvPr/>
        </p:nvSpPr>
        <p:spPr>
          <a:xfrm>
            <a:off x="1587700" y="1082175"/>
            <a:ext cx="1089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lt1"/>
                </a:solidFill>
                <a:latin typeface="Lato"/>
                <a:ea typeface="Lato"/>
                <a:cs typeface="Lato"/>
                <a:sym typeface="Lato"/>
              </a:rPr>
              <a:t>Dice Loss</a:t>
            </a:r>
            <a:endParaRPr b="1" sz="1300">
              <a:solidFill>
                <a:schemeClr val="lt1"/>
              </a:solidFill>
              <a:latin typeface="Lato"/>
              <a:ea typeface="Lato"/>
              <a:cs typeface="Lato"/>
              <a:sym typeface="Lato"/>
            </a:endParaRPr>
          </a:p>
        </p:txBody>
      </p:sp>
      <p:sp>
        <p:nvSpPr>
          <p:cNvPr id="301" name="Google Shape;301;p8"/>
          <p:cNvSpPr txBox="1"/>
          <p:nvPr/>
        </p:nvSpPr>
        <p:spPr>
          <a:xfrm>
            <a:off x="3563859" y="1082175"/>
            <a:ext cx="2577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lt1"/>
                </a:solidFill>
                <a:latin typeface="Lato"/>
                <a:ea typeface="Lato"/>
                <a:cs typeface="Lato"/>
                <a:sym typeface="Lato"/>
              </a:rPr>
              <a:t>Cross Entropy Loss</a:t>
            </a:r>
            <a:endParaRPr b="1" sz="1300">
              <a:solidFill>
                <a:schemeClr val="lt1"/>
              </a:solidFill>
              <a:latin typeface="Lato"/>
              <a:ea typeface="Lato"/>
              <a:cs typeface="Lato"/>
              <a:sym typeface="Lato"/>
            </a:endParaRPr>
          </a:p>
        </p:txBody>
      </p:sp>
      <p:sp>
        <p:nvSpPr>
          <p:cNvPr id="302" name="Google Shape;302;p8"/>
          <p:cNvSpPr txBox="1"/>
          <p:nvPr/>
        </p:nvSpPr>
        <p:spPr>
          <a:xfrm>
            <a:off x="6302909" y="1082175"/>
            <a:ext cx="2577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lt1"/>
                </a:solidFill>
                <a:latin typeface="Lato"/>
                <a:ea typeface="Lato"/>
                <a:cs typeface="Lato"/>
                <a:sym typeface="Lato"/>
              </a:rPr>
              <a:t>Dice Loss + </a:t>
            </a:r>
            <a:r>
              <a:rPr b="1" lang="en" sz="1300">
                <a:solidFill>
                  <a:schemeClr val="lt1"/>
                </a:solidFill>
                <a:latin typeface="Lato"/>
                <a:ea typeface="Lato"/>
                <a:cs typeface="Lato"/>
                <a:sym typeface="Lato"/>
              </a:rPr>
              <a:t>Cross Entropy Loss</a:t>
            </a:r>
            <a:endParaRPr b="1" sz="1300">
              <a:solidFill>
                <a:schemeClr val="lt1"/>
              </a:solidFill>
              <a:latin typeface="Lato"/>
              <a:ea typeface="Lato"/>
              <a:cs typeface="Lato"/>
              <a:sym typeface="Lato"/>
            </a:endParaRPr>
          </a:p>
        </p:txBody>
      </p:sp>
      <p:pic>
        <p:nvPicPr>
          <p:cNvPr id="303" name="Google Shape;303;p8"/>
          <p:cNvPicPr preferRelativeResize="0"/>
          <p:nvPr/>
        </p:nvPicPr>
        <p:blipFill>
          <a:blip r:embed="rId3">
            <a:alphaModFix/>
          </a:blip>
          <a:stretch>
            <a:fillRect/>
          </a:stretch>
        </p:blipFill>
        <p:spPr>
          <a:xfrm>
            <a:off x="818475" y="1478438"/>
            <a:ext cx="2447949" cy="2369776"/>
          </a:xfrm>
          <a:prstGeom prst="rect">
            <a:avLst/>
          </a:prstGeom>
          <a:noFill/>
          <a:ln>
            <a:noFill/>
          </a:ln>
        </p:spPr>
      </p:pic>
      <p:pic>
        <p:nvPicPr>
          <p:cNvPr id="304" name="Google Shape;304;p8"/>
          <p:cNvPicPr preferRelativeResize="0"/>
          <p:nvPr/>
        </p:nvPicPr>
        <p:blipFill>
          <a:blip r:embed="rId4">
            <a:alphaModFix/>
          </a:blip>
          <a:stretch>
            <a:fillRect/>
          </a:stretch>
        </p:blipFill>
        <p:spPr>
          <a:xfrm>
            <a:off x="3563862" y="1467075"/>
            <a:ext cx="2447951" cy="2392499"/>
          </a:xfrm>
          <a:prstGeom prst="rect">
            <a:avLst/>
          </a:prstGeom>
          <a:noFill/>
          <a:ln>
            <a:noFill/>
          </a:ln>
        </p:spPr>
      </p:pic>
      <p:pic>
        <p:nvPicPr>
          <p:cNvPr id="305" name="Google Shape;305;p8"/>
          <p:cNvPicPr preferRelativeResize="0"/>
          <p:nvPr/>
        </p:nvPicPr>
        <p:blipFill>
          <a:blip r:embed="rId5">
            <a:alphaModFix/>
          </a:blip>
          <a:stretch>
            <a:fillRect/>
          </a:stretch>
        </p:blipFill>
        <p:spPr>
          <a:xfrm>
            <a:off x="6309250" y="1467074"/>
            <a:ext cx="2398699" cy="2392500"/>
          </a:xfrm>
          <a:prstGeom prst="rect">
            <a:avLst/>
          </a:prstGeom>
          <a:noFill/>
          <a:ln>
            <a:noFill/>
          </a:ln>
        </p:spPr>
      </p:pic>
      <p:pic>
        <p:nvPicPr>
          <p:cNvPr id="306" name="Google Shape;306;p8"/>
          <p:cNvPicPr preferRelativeResize="0"/>
          <p:nvPr/>
        </p:nvPicPr>
        <p:blipFill>
          <a:blip r:embed="rId6">
            <a:alphaModFix/>
          </a:blip>
          <a:stretch>
            <a:fillRect/>
          </a:stretch>
        </p:blipFill>
        <p:spPr>
          <a:xfrm>
            <a:off x="818475" y="3848216"/>
            <a:ext cx="2447951" cy="365568"/>
          </a:xfrm>
          <a:prstGeom prst="rect">
            <a:avLst/>
          </a:prstGeom>
          <a:noFill/>
          <a:ln>
            <a:noFill/>
          </a:ln>
        </p:spPr>
      </p:pic>
      <p:pic>
        <p:nvPicPr>
          <p:cNvPr id="307" name="Google Shape;307;p8"/>
          <p:cNvPicPr preferRelativeResize="0"/>
          <p:nvPr/>
        </p:nvPicPr>
        <p:blipFill>
          <a:blip r:embed="rId7">
            <a:alphaModFix/>
          </a:blip>
          <a:stretch>
            <a:fillRect/>
          </a:stretch>
        </p:blipFill>
        <p:spPr>
          <a:xfrm>
            <a:off x="3563841" y="3859591"/>
            <a:ext cx="2447975" cy="367605"/>
          </a:xfrm>
          <a:prstGeom prst="rect">
            <a:avLst/>
          </a:prstGeom>
          <a:noFill/>
          <a:ln>
            <a:noFill/>
          </a:ln>
        </p:spPr>
      </p:pic>
      <p:pic>
        <p:nvPicPr>
          <p:cNvPr id="308" name="Google Shape;308;p8"/>
          <p:cNvPicPr preferRelativeResize="0"/>
          <p:nvPr/>
        </p:nvPicPr>
        <p:blipFill>
          <a:blip r:embed="rId8">
            <a:alphaModFix/>
          </a:blip>
          <a:stretch>
            <a:fillRect/>
          </a:stretch>
        </p:blipFill>
        <p:spPr>
          <a:xfrm>
            <a:off x="6309241" y="3860041"/>
            <a:ext cx="2398699" cy="341902"/>
          </a:xfrm>
          <a:prstGeom prst="rect">
            <a:avLst/>
          </a:prstGeom>
          <a:noFill/>
          <a:ln>
            <a:noFill/>
          </a:ln>
        </p:spPr>
      </p:pic>
      <p:sp>
        <p:nvSpPr>
          <p:cNvPr id="309" name="Google Shape;309;p8"/>
          <p:cNvSpPr txBox="1"/>
          <p:nvPr/>
        </p:nvSpPr>
        <p:spPr>
          <a:xfrm>
            <a:off x="810000" y="4384125"/>
            <a:ext cx="78981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ato"/>
                <a:ea typeface="Lato"/>
                <a:cs typeface="Lato"/>
                <a:sym typeface="Lato"/>
              </a:rPr>
              <a:t>Best epoch is 49, 43, and 49. There is no indication of overfit yet at that epoch.</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Training time is relatively fast around 6-7 minutes using GPU NVIDIA RTX 4060</a:t>
            </a:r>
            <a:endParaRPr sz="1300">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6dee23fd8d_0_873"/>
          <p:cNvSpPr txBox="1"/>
          <p:nvPr>
            <p:ph type="title"/>
          </p:nvPr>
        </p:nvSpPr>
        <p:spPr>
          <a:xfrm>
            <a:off x="1065700" y="436675"/>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Evaluation metrics (U-Net) </a:t>
            </a:r>
            <a:endParaRPr/>
          </a:p>
        </p:txBody>
      </p:sp>
      <p:sp>
        <p:nvSpPr>
          <p:cNvPr id="315" name="Google Shape;315;g36dee23fd8d_0_873"/>
          <p:cNvSpPr txBox="1"/>
          <p:nvPr/>
        </p:nvSpPr>
        <p:spPr>
          <a:xfrm>
            <a:off x="929650" y="1082175"/>
            <a:ext cx="2553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lt1"/>
                </a:solidFill>
                <a:latin typeface="Lato"/>
                <a:ea typeface="Lato"/>
                <a:cs typeface="Lato"/>
                <a:sym typeface="Lato"/>
              </a:rPr>
              <a:t>Dice Loss</a:t>
            </a:r>
            <a:endParaRPr b="1" sz="1300">
              <a:solidFill>
                <a:schemeClr val="lt1"/>
              </a:solidFill>
              <a:latin typeface="Lato"/>
              <a:ea typeface="Lato"/>
              <a:cs typeface="Lato"/>
              <a:sym typeface="Lato"/>
            </a:endParaRPr>
          </a:p>
        </p:txBody>
      </p:sp>
      <p:sp>
        <p:nvSpPr>
          <p:cNvPr id="316" name="Google Shape;316;g36dee23fd8d_0_873"/>
          <p:cNvSpPr txBox="1"/>
          <p:nvPr/>
        </p:nvSpPr>
        <p:spPr>
          <a:xfrm>
            <a:off x="3604284" y="1082175"/>
            <a:ext cx="2577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lt1"/>
                </a:solidFill>
                <a:latin typeface="Lato"/>
                <a:ea typeface="Lato"/>
                <a:cs typeface="Lato"/>
                <a:sym typeface="Lato"/>
              </a:rPr>
              <a:t>Cross Entropy Loss</a:t>
            </a:r>
            <a:endParaRPr b="1" sz="1300">
              <a:solidFill>
                <a:schemeClr val="lt1"/>
              </a:solidFill>
              <a:latin typeface="Lato"/>
              <a:ea typeface="Lato"/>
              <a:cs typeface="Lato"/>
              <a:sym typeface="Lato"/>
            </a:endParaRPr>
          </a:p>
        </p:txBody>
      </p:sp>
      <p:sp>
        <p:nvSpPr>
          <p:cNvPr id="317" name="Google Shape;317;g36dee23fd8d_0_873"/>
          <p:cNvSpPr txBox="1"/>
          <p:nvPr/>
        </p:nvSpPr>
        <p:spPr>
          <a:xfrm>
            <a:off x="6302909" y="1082175"/>
            <a:ext cx="2577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lt1"/>
                </a:solidFill>
                <a:latin typeface="Lato"/>
                <a:ea typeface="Lato"/>
                <a:cs typeface="Lato"/>
                <a:sym typeface="Lato"/>
              </a:rPr>
              <a:t>Dice Loss + Cross Entropy Loss</a:t>
            </a:r>
            <a:endParaRPr b="1" sz="1300">
              <a:solidFill>
                <a:schemeClr val="lt1"/>
              </a:solidFill>
              <a:latin typeface="Lato"/>
              <a:ea typeface="Lato"/>
              <a:cs typeface="Lato"/>
              <a:sym typeface="Lato"/>
            </a:endParaRPr>
          </a:p>
        </p:txBody>
      </p:sp>
      <p:pic>
        <p:nvPicPr>
          <p:cNvPr id="318" name="Google Shape;318;g36dee23fd8d_0_873"/>
          <p:cNvPicPr preferRelativeResize="0"/>
          <p:nvPr/>
        </p:nvPicPr>
        <p:blipFill>
          <a:blip r:embed="rId3">
            <a:alphaModFix/>
          </a:blip>
          <a:stretch>
            <a:fillRect/>
          </a:stretch>
        </p:blipFill>
        <p:spPr>
          <a:xfrm>
            <a:off x="904750" y="1467075"/>
            <a:ext cx="2477949" cy="2471551"/>
          </a:xfrm>
          <a:prstGeom prst="rect">
            <a:avLst/>
          </a:prstGeom>
          <a:noFill/>
          <a:ln>
            <a:noFill/>
          </a:ln>
        </p:spPr>
      </p:pic>
      <p:pic>
        <p:nvPicPr>
          <p:cNvPr id="319" name="Google Shape;319;g36dee23fd8d_0_873"/>
          <p:cNvPicPr preferRelativeResize="0"/>
          <p:nvPr/>
        </p:nvPicPr>
        <p:blipFill>
          <a:blip r:embed="rId4">
            <a:alphaModFix/>
          </a:blip>
          <a:stretch>
            <a:fillRect/>
          </a:stretch>
        </p:blipFill>
        <p:spPr>
          <a:xfrm>
            <a:off x="3604275" y="1467075"/>
            <a:ext cx="2477949" cy="2465218"/>
          </a:xfrm>
          <a:prstGeom prst="rect">
            <a:avLst/>
          </a:prstGeom>
          <a:noFill/>
          <a:ln>
            <a:noFill/>
          </a:ln>
        </p:spPr>
      </p:pic>
      <p:pic>
        <p:nvPicPr>
          <p:cNvPr id="320" name="Google Shape;320;g36dee23fd8d_0_873"/>
          <p:cNvPicPr preferRelativeResize="0"/>
          <p:nvPr/>
        </p:nvPicPr>
        <p:blipFill>
          <a:blip r:embed="rId5">
            <a:alphaModFix/>
          </a:blip>
          <a:stretch>
            <a:fillRect/>
          </a:stretch>
        </p:blipFill>
        <p:spPr>
          <a:xfrm>
            <a:off x="6275650" y="1453900"/>
            <a:ext cx="2477951" cy="2469400"/>
          </a:xfrm>
          <a:prstGeom prst="rect">
            <a:avLst/>
          </a:prstGeom>
          <a:noFill/>
          <a:ln>
            <a:noFill/>
          </a:ln>
        </p:spPr>
      </p:pic>
      <p:pic>
        <p:nvPicPr>
          <p:cNvPr id="321" name="Google Shape;321;g36dee23fd8d_0_873"/>
          <p:cNvPicPr preferRelativeResize="0"/>
          <p:nvPr/>
        </p:nvPicPr>
        <p:blipFill>
          <a:blip r:embed="rId6">
            <a:alphaModFix/>
          </a:blip>
          <a:stretch>
            <a:fillRect/>
          </a:stretch>
        </p:blipFill>
        <p:spPr>
          <a:xfrm>
            <a:off x="904741" y="3938616"/>
            <a:ext cx="2477951" cy="362694"/>
          </a:xfrm>
          <a:prstGeom prst="rect">
            <a:avLst/>
          </a:prstGeom>
          <a:noFill/>
          <a:ln>
            <a:noFill/>
          </a:ln>
        </p:spPr>
      </p:pic>
      <p:pic>
        <p:nvPicPr>
          <p:cNvPr id="322" name="Google Shape;322;g36dee23fd8d_0_873"/>
          <p:cNvPicPr preferRelativeResize="0"/>
          <p:nvPr/>
        </p:nvPicPr>
        <p:blipFill>
          <a:blip r:embed="rId7">
            <a:alphaModFix/>
          </a:blip>
          <a:stretch>
            <a:fillRect/>
          </a:stretch>
        </p:blipFill>
        <p:spPr>
          <a:xfrm>
            <a:off x="3604275" y="3938625"/>
            <a:ext cx="2477950" cy="362675"/>
          </a:xfrm>
          <a:prstGeom prst="rect">
            <a:avLst/>
          </a:prstGeom>
          <a:noFill/>
          <a:ln>
            <a:noFill/>
          </a:ln>
        </p:spPr>
      </p:pic>
      <p:pic>
        <p:nvPicPr>
          <p:cNvPr id="323" name="Google Shape;323;g36dee23fd8d_0_873"/>
          <p:cNvPicPr preferRelativeResize="0"/>
          <p:nvPr/>
        </p:nvPicPr>
        <p:blipFill>
          <a:blip r:embed="rId8">
            <a:alphaModFix/>
          </a:blip>
          <a:stretch>
            <a:fillRect/>
          </a:stretch>
        </p:blipFill>
        <p:spPr>
          <a:xfrm>
            <a:off x="6287950" y="3929125"/>
            <a:ext cx="2477951" cy="362750"/>
          </a:xfrm>
          <a:prstGeom prst="rect">
            <a:avLst/>
          </a:prstGeom>
          <a:noFill/>
          <a:ln>
            <a:noFill/>
          </a:ln>
        </p:spPr>
      </p:pic>
      <p:sp>
        <p:nvSpPr>
          <p:cNvPr id="324" name="Google Shape;324;g36dee23fd8d_0_873"/>
          <p:cNvSpPr txBox="1"/>
          <p:nvPr/>
        </p:nvSpPr>
        <p:spPr>
          <a:xfrm>
            <a:off x="810000" y="4384125"/>
            <a:ext cx="78981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ato"/>
                <a:ea typeface="Lato"/>
                <a:cs typeface="Lato"/>
                <a:sym typeface="Lato"/>
              </a:rPr>
              <a:t>Best epoch is 52, 48, and 41. There is no indication of overfit yet at that epoch.</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Training time is slower than FCN8s, around 14-15 minutes using GPU NVIDIA RTX 4060</a:t>
            </a:r>
            <a:endParaRPr sz="13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9"/>
          <p:cNvPicPr preferRelativeResize="0"/>
          <p:nvPr/>
        </p:nvPicPr>
        <p:blipFill>
          <a:blip r:embed="rId3">
            <a:alphaModFix/>
          </a:blip>
          <a:stretch>
            <a:fillRect/>
          </a:stretch>
        </p:blipFill>
        <p:spPr>
          <a:xfrm>
            <a:off x="867900" y="1341413"/>
            <a:ext cx="7995576" cy="2442888"/>
          </a:xfrm>
          <a:prstGeom prst="rect">
            <a:avLst/>
          </a:prstGeom>
          <a:noFill/>
          <a:ln>
            <a:noFill/>
          </a:ln>
        </p:spPr>
      </p:pic>
      <p:sp>
        <p:nvSpPr>
          <p:cNvPr id="330" name="Google Shape;330;p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Validation</a:t>
            </a:r>
            <a:endParaRPr/>
          </a:p>
        </p:txBody>
      </p:sp>
      <p:sp>
        <p:nvSpPr>
          <p:cNvPr id="331" name="Google Shape;331;p9"/>
          <p:cNvSpPr txBox="1"/>
          <p:nvPr/>
        </p:nvSpPr>
        <p:spPr>
          <a:xfrm>
            <a:off x="1538913" y="875300"/>
            <a:ext cx="66744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Test Dataset: 101 Files, GPU: RTX 4060 GPU, Batch Size: 32</a:t>
            </a:r>
            <a:endParaRPr sz="1300">
              <a:solidFill>
                <a:schemeClr val="lt1"/>
              </a:solidFill>
              <a:latin typeface="Lato"/>
              <a:ea typeface="Lato"/>
              <a:cs typeface="Lato"/>
              <a:sym typeface="Lato"/>
            </a:endParaRPr>
          </a:p>
        </p:txBody>
      </p:sp>
      <p:sp>
        <p:nvSpPr>
          <p:cNvPr id="332" name="Google Shape;332;p9"/>
          <p:cNvSpPr txBox="1"/>
          <p:nvPr/>
        </p:nvSpPr>
        <p:spPr>
          <a:xfrm>
            <a:off x="867900" y="4195275"/>
            <a:ext cx="78981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Lato"/>
                <a:ea typeface="Lato"/>
                <a:cs typeface="Lato"/>
                <a:sym typeface="Lato"/>
              </a:rPr>
              <a:t>U-Net has a better </a:t>
            </a:r>
            <a:r>
              <a:rPr lang="en" sz="1300">
                <a:solidFill>
                  <a:schemeClr val="lt1"/>
                </a:solidFill>
                <a:latin typeface="Lato"/>
                <a:ea typeface="Lato"/>
                <a:cs typeface="Lato"/>
                <a:sym typeface="Lato"/>
              </a:rPr>
              <a:t>accuracy</a:t>
            </a:r>
            <a:r>
              <a:rPr lang="en" sz="1300">
                <a:solidFill>
                  <a:schemeClr val="lt1"/>
                </a:solidFill>
                <a:latin typeface="Lato"/>
                <a:ea typeface="Lato"/>
                <a:cs typeface="Lato"/>
                <a:sym typeface="Lato"/>
              </a:rPr>
              <a:t> </a:t>
            </a:r>
            <a:r>
              <a:rPr lang="en" sz="1300">
                <a:solidFill>
                  <a:schemeClr val="lt1"/>
                </a:solidFill>
                <a:latin typeface="Lato"/>
                <a:ea typeface="Lato"/>
                <a:cs typeface="Lato"/>
                <a:sym typeface="Lato"/>
              </a:rPr>
              <a:t>compare</a:t>
            </a:r>
            <a:r>
              <a:rPr lang="en" sz="1300">
                <a:solidFill>
                  <a:schemeClr val="lt1"/>
                </a:solidFill>
                <a:latin typeface="Lato"/>
                <a:ea typeface="Lato"/>
                <a:cs typeface="Lato"/>
                <a:sym typeface="Lato"/>
              </a:rPr>
              <a:t> to FCN8s. However the Inference time of FCN8s is faster than U-Net.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200">
                <a:solidFill>
                  <a:srgbClr val="F8FAFF"/>
                </a:solidFill>
                <a:highlight>
                  <a:srgbClr val="292A2D"/>
                </a:highlight>
                <a:latin typeface="Lato"/>
                <a:ea typeface="Lato"/>
                <a:cs typeface="Lato"/>
                <a:sym typeface="Lato"/>
              </a:rPr>
              <a:t>The model trained with the combined loss function achieves higher accuracy compared to models trained with </a:t>
            </a:r>
            <a:r>
              <a:rPr lang="en" sz="1200">
                <a:solidFill>
                  <a:srgbClr val="F8FAFF"/>
                </a:solidFill>
                <a:highlight>
                  <a:srgbClr val="292A2D"/>
                </a:highlight>
                <a:latin typeface="Roboto"/>
                <a:ea typeface="Roboto"/>
                <a:cs typeface="Roboto"/>
                <a:sym typeface="Roboto"/>
              </a:rPr>
              <a:t>other loss functions.</a:t>
            </a:r>
            <a:endParaRPr sz="1300">
              <a:solidFill>
                <a:schemeClr val="lt1"/>
              </a:solidFill>
              <a:latin typeface="Lato"/>
              <a:ea typeface="Lato"/>
              <a:cs typeface="Lato"/>
              <a:sym typeface="Lato"/>
            </a:endParaRPr>
          </a:p>
        </p:txBody>
      </p:sp>
      <p:sp>
        <p:nvSpPr>
          <p:cNvPr id="333" name="Google Shape;333;p9"/>
          <p:cNvSpPr txBox="1"/>
          <p:nvPr/>
        </p:nvSpPr>
        <p:spPr>
          <a:xfrm>
            <a:off x="1490175" y="3806725"/>
            <a:ext cx="6771900" cy="506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100">
                <a:solidFill>
                  <a:schemeClr val="lt1"/>
                </a:solidFill>
                <a:latin typeface="Lato"/>
                <a:ea typeface="Lato"/>
                <a:cs typeface="Lato"/>
                <a:sym typeface="Lato"/>
              </a:rPr>
              <a:t>Note: Total_Time is total time required to inference all 101 test dataset files</a:t>
            </a:r>
            <a:endParaRPr i="1" sz="1100">
              <a:solidFill>
                <a:schemeClr val="lt1"/>
              </a:solidFill>
              <a:latin typeface="Lato"/>
              <a:ea typeface="Lato"/>
              <a:cs typeface="Lato"/>
              <a:sym typeface="Lato"/>
            </a:endParaRPr>
          </a:p>
        </p:txBody>
      </p:sp>
      <p:pic>
        <p:nvPicPr>
          <p:cNvPr id="334" name="Google Shape;334;p9" title="pngegg.png"/>
          <p:cNvPicPr preferRelativeResize="0"/>
          <p:nvPr/>
        </p:nvPicPr>
        <p:blipFill>
          <a:blip r:embed="rId4">
            <a:alphaModFix/>
          </a:blip>
          <a:stretch>
            <a:fillRect/>
          </a:stretch>
        </p:blipFill>
        <p:spPr>
          <a:xfrm>
            <a:off x="4498916" y="2337400"/>
            <a:ext cx="311600" cy="306076"/>
          </a:xfrm>
          <a:prstGeom prst="rect">
            <a:avLst/>
          </a:prstGeom>
          <a:noFill/>
          <a:ln>
            <a:noFill/>
          </a:ln>
        </p:spPr>
      </p:pic>
      <p:pic>
        <p:nvPicPr>
          <p:cNvPr id="335" name="Google Shape;335;p9" title="pngegg.png"/>
          <p:cNvPicPr preferRelativeResize="0"/>
          <p:nvPr/>
        </p:nvPicPr>
        <p:blipFill>
          <a:blip r:embed="rId4">
            <a:alphaModFix/>
          </a:blip>
          <a:stretch>
            <a:fillRect/>
          </a:stretch>
        </p:blipFill>
        <p:spPr>
          <a:xfrm>
            <a:off x="5954416" y="2337400"/>
            <a:ext cx="311600" cy="306076"/>
          </a:xfrm>
          <a:prstGeom prst="rect">
            <a:avLst/>
          </a:prstGeom>
          <a:noFill/>
          <a:ln>
            <a:noFill/>
          </a:ln>
        </p:spPr>
      </p:pic>
      <p:pic>
        <p:nvPicPr>
          <p:cNvPr id="336" name="Google Shape;336;p9" title="pngegg.png"/>
          <p:cNvPicPr preferRelativeResize="0"/>
          <p:nvPr/>
        </p:nvPicPr>
        <p:blipFill>
          <a:blip r:embed="rId4">
            <a:alphaModFix/>
          </a:blip>
          <a:stretch>
            <a:fillRect/>
          </a:stretch>
        </p:blipFill>
        <p:spPr>
          <a:xfrm>
            <a:off x="7799816" y="2724775"/>
            <a:ext cx="311600" cy="3060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6dee23fd8d_0_89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Validation</a:t>
            </a:r>
            <a:endParaRPr/>
          </a:p>
        </p:txBody>
      </p:sp>
      <p:sp>
        <p:nvSpPr>
          <p:cNvPr id="342" name="Google Shape;342;g36dee23fd8d_0_894"/>
          <p:cNvSpPr txBox="1"/>
          <p:nvPr/>
        </p:nvSpPr>
        <p:spPr>
          <a:xfrm>
            <a:off x="1043000" y="1198075"/>
            <a:ext cx="25728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Average Dice Coefficient</a:t>
            </a:r>
            <a:endParaRPr sz="1300">
              <a:solidFill>
                <a:schemeClr val="lt1"/>
              </a:solidFill>
              <a:latin typeface="Lato"/>
              <a:ea typeface="Lato"/>
              <a:cs typeface="Lato"/>
              <a:sym typeface="Lato"/>
            </a:endParaRPr>
          </a:p>
        </p:txBody>
      </p:sp>
      <p:sp>
        <p:nvSpPr>
          <p:cNvPr id="343" name="Google Shape;343;g36dee23fd8d_0_894"/>
          <p:cNvSpPr txBox="1"/>
          <p:nvPr/>
        </p:nvSpPr>
        <p:spPr>
          <a:xfrm>
            <a:off x="3815825" y="1198075"/>
            <a:ext cx="25728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Mean IoU Score</a:t>
            </a:r>
            <a:endParaRPr sz="1300">
              <a:solidFill>
                <a:schemeClr val="lt1"/>
              </a:solidFill>
              <a:latin typeface="Lato"/>
              <a:ea typeface="Lato"/>
              <a:cs typeface="Lato"/>
              <a:sym typeface="Lato"/>
            </a:endParaRPr>
          </a:p>
        </p:txBody>
      </p:sp>
      <p:sp>
        <p:nvSpPr>
          <p:cNvPr id="344" name="Google Shape;344;g36dee23fd8d_0_894"/>
          <p:cNvSpPr txBox="1"/>
          <p:nvPr/>
        </p:nvSpPr>
        <p:spPr>
          <a:xfrm>
            <a:off x="6327750" y="1198075"/>
            <a:ext cx="25728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Total Inference Time</a:t>
            </a:r>
            <a:endParaRPr sz="1300">
              <a:solidFill>
                <a:schemeClr val="lt1"/>
              </a:solidFill>
              <a:latin typeface="Lato"/>
              <a:ea typeface="Lato"/>
              <a:cs typeface="Lato"/>
              <a:sym typeface="Lato"/>
            </a:endParaRPr>
          </a:p>
        </p:txBody>
      </p:sp>
      <p:pic>
        <p:nvPicPr>
          <p:cNvPr id="345" name="Google Shape;345;g36dee23fd8d_0_894"/>
          <p:cNvPicPr preferRelativeResize="0"/>
          <p:nvPr/>
        </p:nvPicPr>
        <p:blipFill>
          <a:blip r:embed="rId3">
            <a:alphaModFix/>
          </a:blip>
          <a:stretch>
            <a:fillRect/>
          </a:stretch>
        </p:blipFill>
        <p:spPr>
          <a:xfrm>
            <a:off x="1043000" y="1649892"/>
            <a:ext cx="7948601" cy="263748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6dee23fd8d_0_904"/>
          <p:cNvSpPr txBox="1"/>
          <p:nvPr>
            <p:ph type="title"/>
          </p:nvPr>
        </p:nvSpPr>
        <p:spPr>
          <a:xfrm>
            <a:off x="1286800" y="265325"/>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Validation</a:t>
            </a:r>
            <a:endParaRPr/>
          </a:p>
        </p:txBody>
      </p:sp>
      <p:sp>
        <p:nvSpPr>
          <p:cNvPr id="351" name="Google Shape;351;g36dee23fd8d_0_904"/>
          <p:cNvSpPr txBox="1"/>
          <p:nvPr/>
        </p:nvSpPr>
        <p:spPr>
          <a:xfrm>
            <a:off x="3167875" y="406675"/>
            <a:ext cx="5336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Mean IoU Score Per Class</a:t>
            </a:r>
            <a:endParaRPr sz="1300">
              <a:solidFill>
                <a:schemeClr val="lt1"/>
              </a:solidFill>
              <a:latin typeface="Lato"/>
              <a:ea typeface="Lato"/>
              <a:cs typeface="Lato"/>
              <a:sym typeface="Lato"/>
            </a:endParaRPr>
          </a:p>
        </p:txBody>
      </p:sp>
      <p:pic>
        <p:nvPicPr>
          <p:cNvPr id="352" name="Google Shape;352;g36dee23fd8d_0_904"/>
          <p:cNvPicPr preferRelativeResize="0"/>
          <p:nvPr/>
        </p:nvPicPr>
        <p:blipFill>
          <a:blip r:embed="rId3">
            <a:alphaModFix/>
          </a:blip>
          <a:stretch>
            <a:fillRect/>
          </a:stretch>
        </p:blipFill>
        <p:spPr>
          <a:xfrm>
            <a:off x="1179825" y="1018900"/>
            <a:ext cx="7395932" cy="3530850"/>
          </a:xfrm>
          <a:prstGeom prst="rect">
            <a:avLst/>
          </a:prstGeom>
          <a:noFill/>
          <a:ln>
            <a:noFill/>
          </a:ln>
        </p:spPr>
      </p:pic>
      <p:pic>
        <p:nvPicPr>
          <p:cNvPr id="353" name="Google Shape;353;g36dee23fd8d_0_904" title="pngegg.png"/>
          <p:cNvPicPr preferRelativeResize="0"/>
          <p:nvPr/>
        </p:nvPicPr>
        <p:blipFill>
          <a:blip r:embed="rId4">
            <a:alphaModFix/>
          </a:blip>
          <a:stretch>
            <a:fillRect/>
          </a:stretch>
        </p:blipFill>
        <p:spPr>
          <a:xfrm>
            <a:off x="3708999" y="1341300"/>
            <a:ext cx="282951" cy="277951"/>
          </a:xfrm>
          <a:prstGeom prst="rect">
            <a:avLst/>
          </a:prstGeom>
          <a:noFill/>
          <a:ln>
            <a:noFill/>
          </a:ln>
        </p:spPr>
      </p:pic>
      <p:pic>
        <p:nvPicPr>
          <p:cNvPr id="354" name="Google Shape;354;g36dee23fd8d_0_904" title="pngegg.png"/>
          <p:cNvPicPr preferRelativeResize="0"/>
          <p:nvPr/>
        </p:nvPicPr>
        <p:blipFill>
          <a:blip r:embed="rId4">
            <a:alphaModFix/>
          </a:blip>
          <a:stretch>
            <a:fillRect/>
          </a:stretch>
        </p:blipFill>
        <p:spPr>
          <a:xfrm>
            <a:off x="4664774" y="1619250"/>
            <a:ext cx="282951" cy="277951"/>
          </a:xfrm>
          <a:prstGeom prst="rect">
            <a:avLst/>
          </a:prstGeom>
          <a:noFill/>
          <a:ln>
            <a:noFill/>
          </a:ln>
        </p:spPr>
      </p:pic>
      <p:pic>
        <p:nvPicPr>
          <p:cNvPr id="355" name="Google Shape;355;g36dee23fd8d_0_904" title="pngegg.png"/>
          <p:cNvPicPr preferRelativeResize="0"/>
          <p:nvPr/>
        </p:nvPicPr>
        <p:blipFill>
          <a:blip r:embed="rId4">
            <a:alphaModFix/>
          </a:blip>
          <a:stretch>
            <a:fillRect/>
          </a:stretch>
        </p:blipFill>
        <p:spPr>
          <a:xfrm>
            <a:off x="2342374" y="1897200"/>
            <a:ext cx="282951" cy="277951"/>
          </a:xfrm>
          <a:prstGeom prst="rect">
            <a:avLst/>
          </a:prstGeom>
          <a:noFill/>
          <a:ln>
            <a:noFill/>
          </a:ln>
        </p:spPr>
      </p:pic>
      <p:pic>
        <p:nvPicPr>
          <p:cNvPr id="356" name="Google Shape;356;g36dee23fd8d_0_904" title="pngegg.png"/>
          <p:cNvPicPr preferRelativeResize="0"/>
          <p:nvPr/>
        </p:nvPicPr>
        <p:blipFill>
          <a:blip r:embed="rId4">
            <a:alphaModFix/>
          </a:blip>
          <a:stretch>
            <a:fillRect/>
          </a:stretch>
        </p:blipFill>
        <p:spPr>
          <a:xfrm>
            <a:off x="3708999" y="2143825"/>
            <a:ext cx="282951" cy="277951"/>
          </a:xfrm>
          <a:prstGeom prst="rect">
            <a:avLst/>
          </a:prstGeom>
          <a:noFill/>
          <a:ln>
            <a:noFill/>
          </a:ln>
        </p:spPr>
      </p:pic>
      <p:pic>
        <p:nvPicPr>
          <p:cNvPr id="357" name="Google Shape;357;g36dee23fd8d_0_904" title="pngegg.png"/>
          <p:cNvPicPr preferRelativeResize="0"/>
          <p:nvPr/>
        </p:nvPicPr>
        <p:blipFill>
          <a:blip r:embed="rId4">
            <a:alphaModFix/>
          </a:blip>
          <a:stretch>
            <a:fillRect/>
          </a:stretch>
        </p:blipFill>
        <p:spPr>
          <a:xfrm>
            <a:off x="4664774" y="2421775"/>
            <a:ext cx="282951" cy="277951"/>
          </a:xfrm>
          <a:prstGeom prst="rect">
            <a:avLst/>
          </a:prstGeom>
          <a:noFill/>
          <a:ln>
            <a:noFill/>
          </a:ln>
        </p:spPr>
      </p:pic>
      <p:pic>
        <p:nvPicPr>
          <p:cNvPr id="358" name="Google Shape;358;g36dee23fd8d_0_904" title="pngegg.png"/>
          <p:cNvPicPr preferRelativeResize="0"/>
          <p:nvPr/>
        </p:nvPicPr>
        <p:blipFill>
          <a:blip r:embed="rId4">
            <a:alphaModFix/>
          </a:blip>
          <a:stretch>
            <a:fillRect/>
          </a:stretch>
        </p:blipFill>
        <p:spPr>
          <a:xfrm>
            <a:off x="3708999" y="2645350"/>
            <a:ext cx="282951" cy="277951"/>
          </a:xfrm>
          <a:prstGeom prst="rect">
            <a:avLst/>
          </a:prstGeom>
          <a:noFill/>
          <a:ln>
            <a:noFill/>
          </a:ln>
        </p:spPr>
      </p:pic>
      <p:pic>
        <p:nvPicPr>
          <p:cNvPr id="359" name="Google Shape;359;g36dee23fd8d_0_904" title="pngegg.png"/>
          <p:cNvPicPr preferRelativeResize="0"/>
          <p:nvPr/>
        </p:nvPicPr>
        <p:blipFill>
          <a:blip r:embed="rId4">
            <a:alphaModFix/>
          </a:blip>
          <a:stretch>
            <a:fillRect/>
          </a:stretch>
        </p:blipFill>
        <p:spPr>
          <a:xfrm>
            <a:off x="7981749" y="2923300"/>
            <a:ext cx="282951" cy="277951"/>
          </a:xfrm>
          <a:prstGeom prst="rect">
            <a:avLst/>
          </a:prstGeom>
          <a:noFill/>
          <a:ln>
            <a:noFill/>
          </a:ln>
        </p:spPr>
      </p:pic>
      <p:pic>
        <p:nvPicPr>
          <p:cNvPr id="360" name="Google Shape;360;g36dee23fd8d_0_904" title="pngegg.png"/>
          <p:cNvPicPr preferRelativeResize="0"/>
          <p:nvPr/>
        </p:nvPicPr>
        <p:blipFill>
          <a:blip r:embed="rId4">
            <a:alphaModFix/>
          </a:blip>
          <a:stretch>
            <a:fillRect/>
          </a:stretch>
        </p:blipFill>
        <p:spPr>
          <a:xfrm>
            <a:off x="7981749" y="3201250"/>
            <a:ext cx="282951" cy="277951"/>
          </a:xfrm>
          <a:prstGeom prst="rect">
            <a:avLst/>
          </a:prstGeom>
          <a:noFill/>
          <a:ln>
            <a:noFill/>
          </a:ln>
        </p:spPr>
      </p:pic>
      <p:pic>
        <p:nvPicPr>
          <p:cNvPr id="361" name="Google Shape;361;g36dee23fd8d_0_904" title="pngegg.png"/>
          <p:cNvPicPr preferRelativeResize="0"/>
          <p:nvPr/>
        </p:nvPicPr>
        <p:blipFill>
          <a:blip r:embed="rId4">
            <a:alphaModFix/>
          </a:blip>
          <a:stretch>
            <a:fillRect/>
          </a:stretch>
        </p:blipFill>
        <p:spPr>
          <a:xfrm>
            <a:off x="4664774" y="3479200"/>
            <a:ext cx="282951" cy="277951"/>
          </a:xfrm>
          <a:prstGeom prst="rect">
            <a:avLst/>
          </a:prstGeom>
          <a:noFill/>
          <a:ln>
            <a:noFill/>
          </a:ln>
        </p:spPr>
      </p:pic>
      <p:pic>
        <p:nvPicPr>
          <p:cNvPr id="362" name="Google Shape;362;g36dee23fd8d_0_904" title="pngegg.png"/>
          <p:cNvPicPr preferRelativeResize="0"/>
          <p:nvPr/>
        </p:nvPicPr>
        <p:blipFill>
          <a:blip r:embed="rId4">
            <a:alphaModFix/>
          </a:blip>
          <a:stretch>
            <a:fillRect/>
          </a:stretch>
        </p:blipFill>
        <p:spPr>
          <a:xfrm>
            <a:off x="2342374" y="3757150"/>
            <a:ext cx="282951" cy="277951"/>
          </a:xfrm>
          <a:prstGeom prst="rect">
            <a:avLst/>
          </a:prstGeom>
          <a:noFill/>
          <a:ln>
            <a:noFill/>
          </a:ln>
        </p:spPr>
      </p:pic>
      <p:pic>
        <p:nvPicPr>
          <p:cNvPr id="363" name="Google Shape;363;g36dee23fd8d_0_904" title="pngegg.png"/>
          <p:cNvPicPr preferRelativeResize="0"/>
          <p:nvPr/>
        </p:nvPicPr>
        <p:blipFill>
          <a:blip r:embed="rId4">
            <a:alphaModFix/>
          </a:blip>
          <a:stretch>
            <a:fillRect/>
          </a:stretch>
        </p:blipFill>
        <p:spPr>
          <a:xfrm>
            <a:off x="4664774" y="3984900"/>
            <a:ext cx="282951" cy="277951"/>
          </a:xfrm>
          <a:prstGeom prst="rect">
            <a:avLst/>
          </a:prstGeom>
          <a:noFill/>
          <a:ln>
            <a:noFill/>
          </a:ln>
        </p:spPr>
      </p:pic>
      <p:pic>
        <p:nvPicPr>
          <p:cNvPr id="364" name="Google Shape;364;g36dee23fd8d_0_904" title="pngegg.png"/>
          <p:cNvPicPr preferRelativeResize="0"/>
          <p:nvPr/>
        </p:nvPicPr>
        <p:blipFill>
          <a:blip r:embed="rId4">
            <a:alphaModFix/>
          </a:blip>
          <a:stretch>
            <a:fillRect/>
          </a:stretch>
        </p:blipFill>
        <p:spPr>
          <a:xfrm>
            <a:off x="2342374" y="4262850"/>
            <a:ext cx="282951" cy="277951"/>
          </a:xfrm>
          <a:prstGeom prst="rect">
            <a:avLst/>
          </a:prstGeom>
          <a:noFill/>
          <a:ln>
            <a:noFill/>
          </a:ln>
        </p:spPr>
      </p:pic>
      <p:pic>
        <p:nvPicPr>
          <p:cNvPr id="365" name="Google Shape;365;g36dee23fd8d_0_904" title="cross.png"/>
          <p:cNvPicPr preferRelativeResize="0"/>
          <p:nvPr/>
        </p:nvPicPr>
        <p:blipFill>
          <a:blip r:embed="rId5">
            <a:alphaModFix/>
          </a:blip>
          <a:stretch>
            <a:fillRect/>
          </a:stretch>
        </p:blipFill>
        <p:spPr>
          <a:xfrm>
            <a:off x="5620550" y="1453950"/>
            <a:ext cx="144623" cy="165299"/>
          </a:xfrm>
          <a:prstGeom prst="rect">
            <a:avLst/>
          </a:prstGeom>
          <a:noFill/>
          <a:ln>
            <a:noFill/>
          </a:ln>
        </p:spPr>
      </p:pic>
      <p:pic>
        <p:nvPicPr>
          <p:cNvPr id="366" name="Google Shape;366;g36dee23fd8d_0_904" title="cross.png"/>
          <p:cNvPicPr preferRelativeResize="0"/>
          <p:nvPr/>
        </p:nvPicPr>
        <p:blipFill>
          <a:blip r:embed="rId5">
            <a:alphaModFix/>
          </a:blip>
          <a:stretch>
            <a:fillRect/>
          </a:stretch>
        </p:blipFill>
        <p:spPr>
          <a:xfrm>
            <a:off x="5620550" y="1731900"/>
            <a:ext cx="144623" cy="165299"/>
          </a:xfrm>
          <a:prstGeom prst="rect">
            <a:avLst/>
          </a:prstGeom>
          <a:noFill/>
          <a:ln>
            <a:noFill/>
          </a:ln>
        </p:spPr>
      </p:pic>
      <p:pic>
        <p:nvPicPr>
          <p:cNvPr id="367" name="Google Shape;367;g36dee23fd8d_0_904" title="cross.png"/>
          <p:cNvPicPr preferRelativeResize="0"/>
          <p:nvPr/>
        </p:nvPicPr>
        <p:blipFill>
          <a:blip r:embed="rId5">
            <a:alphaModFix/>
          </a:blip>
          <a:stretch>
            <a:fillRect/>
          </a:stretch>
        </p:blipFill>
        <p:spPr>
          <a:xfrm>
            <a:off x="7005425" y="1953525"/>
            <a:ext cx="144623" cy="165299"/>
          </a:xfrm>
          <a:prstGeom prst="rect">
            <a:avLst/>
          </a:prstGeom>
          <a:noFill/>
          <a:ln>
            <a:noFill/>
          </a:ln>
        </p:spPr>
      </p:pic>
      <p:pic>
        <p:nvPicPr>
          <p:cNvPr id="368" name="Google Shape;368;g36dee23fd8d_0_904" title="cross.png"/>
          <p:cNvPicPr preferRelativeResize="0"/>
          <p:nvPr/>
        </p:nvPicPr>
        <p:blipFill>
          <a:blip r:embed="rId5">
            <a:alphaModFix/>
          </a:blip>
          <a:stretch>
            <a:fillRect/>
          </a:stretch>
        </p:blipFill>
        <p:spPr>
          <a:xfrm>
            <a:off x="5620550" y="2256475"/>
            <a:ext cx="144623" cy="165299"/>
          </a:xfrm>
          <a:prstGeom prst="rect">
            <a:avLst/>
          </a:prstGeom>
          <a:noFill/>
          <a:ln>
            <a:noFill/>
          </a:ln>
        </p:spPr>
      </p:pic>
      <p:pic>
        <p:nvPicPr>
          <p:cNvPr id="369" name="Google Shape;369;g36dee23fd8d_0_904" title="cross.png"/>
          <p:cNvPicPr preferRelativeResize="0"/>
          <p:nvPr/>
        </p:nvPicPr>
        <p:blipFill>
          <a:blip r:embed="rId5">
            <a:alphaModFix/>
          </a:blip>
          <a:stretch>
            <a:fillRect/>
          </a:stretch>
        </p:blipFill>
        <p:spPr>
          <a:xfrm>
            <a:off x="5620550" y="2489100"/>
            <a:ext cx="144623" cy="165299"/>
          </a:xfrm>
          <a:prstGeom prst="rect">
            <a:avLst/>
          </a:prstGeom>
          <a:noFill/>
          <a:ln>
            <a:noFill/>
          </a:ln>
        </p:spPr>
      </p:pic>
      <p:pic>
        <p:nvPicPr>
          <p:cNvPr id="370" name="Google Shape;370;g36dee23fd8d_0_904" title="cross.png"/>
          <p:cNvPicPr preferRelativeResize="0"/>
          <p:nvPr/>
        </p:nvPicPr>
        <p:blipFill>
          <a:blip r:embed="rId5">
            <a:alphaModFix/>
          </a:blip>
          <a:stretch>
            <a:fillRect/>
          </a:stretch>
        </p:blipFill>
        <p:spPr>
          <a:xfrm>
            <a:off x="2411537" y="2758000"/>
            <a:ext cx="144623" cy="165299"/>
          </a:xfrm>
          <a:prstGeom prst="rect">
            <a:avLst/>
          </a:prstGeom>
          <a:noFill/>
          <a:ln>
            <a:noFill/>
          </a:ln>
        </p:spPr>
      </p:pic>
      <p:pic>
        <p:nvPicPr>
          <p:cNvPr id="371" name="Google Shape;371;g36dee23fd8d_0_904" title="cross.png"/>
          <p:cNvPicPr preferRelativeResize="0"/>
          <p:nvPr/>
        </p:nvPicPr>
        <p:blipFill>
          <a:blip r:embed="rId5">
            <a:alphaModFix/>
          </a:blip>
          <a:stretch>
            <a:fillRect/>
          </a:stretch>
        </p:blipFill>
        <p:spPr>
          <a:xfrm>
            <a:off x="7005437" y="3035950"/>
            <a:ext cx="144623" cy="165299"/>
          </a:xfrm>
          <a:prstGeom prst="rect">
            <a:avLst/>
          </a:prstGeom>
          <a:noFill/>
          <a:ln>
            <a:noFill/>
          </a:ln>
        </p:spPr>
      </p:pic>
      <p:pic>
        <p:nvPicPr>
          <p:cNvPr id="372" name="Google Shape;372;g36dee23fd8d_0_904" title="cross.png"/>
          <p:cNvPicPr preferRelativeResize="0"/>
          <p:nvPr/>
        </p:nvPicPr>
        <p:blipFill>
          <a:blip r:embed="rId5">
            <a:alphaModFix/>
          </a:blip>
          <a:stretch>
            <a:fillRect/>
          </a:stretch>
        </p:blipFill>
        <p:spPr>
          <a:xfrm>
            <a:off x="5620562" y="3313900"/>
            <a:ext cx="144623" cy="165299"/>
          </a:xfrm>
          <a:prstGeom prst="rect">
            <a:avLst/>
          </a:prstGeom>
          <a:noFill/>
          <a:ln>
            <a:noFill/>
          </a:ln>
        </p:spPr>
      </p:pic>
      <p:pic>
        <p:nvPicPr>
          <p:cNvPr id="373" name="Google Shape;373;g36dee23fd8d_0_904" title="cross.png"/>
          <p:cNvPicPr preferRelativeResize="0"/>
          <p:nvPr/>
        </p:nvPicPr>
        <p:blipFill>
          <a:blip r:embed="rId5">
            <a:alphaModFix/>
          </a:blip>
          <a:stretch>
            <a:fillRect/>
          </a:stretch>
        </p:blipFill>
        <p:spPr>
          <a:xfrm>
            <a:off x="2411537" y="3313900"/>
            <a:ext cx="144623" cy="165299"/>
          </a:xfrm>
          <a:prstGeom prst="rect">
            <a:avLst/>
          </a:prstGeom>
          <a:noFill/>
          <a:ln>
            <a:noFill/>
          </a:ln>
        </p:spPr>
      </p:pic>
      <p:pic>
        <p:nvPicPr>
          <p:cNvPr id="374" name="Google Shape;374;g36dee23fd8d_0_904" title="cross.png"/>
          <p:cNvPicPr preferRelativeResize="0"/>
          <p:nvPr/>
        </p:nvPicPr>
        <p:blipFill>
          <a:blip r:embed="rId5">
            <a:alphaModFix/>
          </a:blip>
          <a:stretch>
            <a:fillRect/>
          </a:stretch>
        </p:blipFill>
        <p:spPr>
          <a:xfrm>
            <a:off x="5620562" y="3535525"/>
            <a:ext cx="144623" cy="165299"/>
          </a:xfrm>
          <a:prstGeom prst="rect">
            <a:avLst/>
          </a:prstGeom>
          <a:noFill/>
          <a:ln>
            <a:noFill/>
          </a:ln>
        </p:spPr>
      </p:pic>
      <p:pic>
        <p:nvPicPr>
          <p:cNvPr id="375" name="Google Shape;375;g36dee23fd8d_0_904" title="cross.png"/>
          <p:cNvPicPr preferRelativeResize="0"/>
          <p:nvPr/>
        </p:nvPicPr>
        <p:blipFill>
          <a:blip r:embed="rId5">
            <a:alphaModFix/>
          </a:blip>
          <a:stretch>
            <a:fillRect/>
          </a:stretch>
        </p:blipFill>
        <p:spPr>
          <a:xfrm>
            <a:off x="5620562" y="3813475"/>
            <a:ext cx="144623" cy="165299"/>
          </a:xfrm>
          <a:prstGeom prst="rect">
            <a:avLst/>
          </a:prstGeom>
          <a:noFill/>
          <a:ln>
            <a:noFill/>
          </a:ln>
        </p:spPr>
      </p:pic>
      <p:pic>
        <p:nvPicPr>
          <p:cNvPr id="376" name="Google Shape;376;g36dee23fd8d_0_904" title="cross.png"/>
          <p:cNvPicPr preferRelativeResize="0"/>
          <p:nvPr/>
        </p:nvPicPr>
        <p:blipFill>
          <a:blip r:embed="rId5">
            <a:alphaModFix/>
          </a:blip>
          <a:stretch>
            <a:fillRect/>
          </a:stretch>
        </p:blipFill>
        <p:spPr>
          <a:xfrm>
            <a:off x="5620562" y="4041225"/>
            <a:ext cx="144623" cy="165299"/>
          </a:xfrm>
          <a:prstGeom prst="rect">
            <a:avLst/>
          </a:prstGeom>
          <a:noFill/>
          <a:ln>
            <a:noFill/>
          </a:ln>
        </p:spPr>
      </p:pic>
      <p:pic>
        <p:nvPicPr>
          <p:cNvPr id="377" name="Google Shape;377;g36dee23fd8d_0_904" title="cross.png"/>
          <p:cNvPicPr preferRelativeResize="0"/>
          <p:nvPr/>
        </p:nvPicPr>
        <p:blipFill>
          <a:blip r:embed="rId5">
            <a:alphaModFix/>
          </a:blip>
          <a:stretch>
            <a:fillRect/>
          </a:stretch>
        </p:blipFill>
        <p:spPr>
          <a:xfrm>
            <a:off x="2411537" y="4066325"/>
            <a:ext cx="144623" cy="165299"/>
          </a:xfrm>
          <a:prstGeom prst="rect">
            <a:avLst/>
          </a:prstGeom>
          <a:noFill/>
          <a:ln>
            <a:noFill/>
          </a:ln>
        </p:spPr>
      </p:pic>
      <p:pic>
        <p:nvPicPr>
          <p:cNvPr id="378" name="Google Shape;378;g36dee23fd8d_0_904" title="cross.png"/>
          <p:cNvPicPr preferRelativeResize="0"/>
          <p:nvPr/>
        </p:nvPicPr>
        <p:blipFill>
          <a:blip r:embed="rId5">
            <a:alphaModFix/>
          </a:blip>
          <a:stretch>
            <a:fillRect/>
          </a:stretch>
        </p:blipFill>
        <p:spPr>
          <a:xfrm>
            <a:off x="7005437" y="4313050"/>
            <a:ext cx="144623" cy="165299"/>
          </a:xfrm>
          <a:prstGeom prst="rect">
            <a:avLst/>
          </a:prstGeom>
          <a:noFill/>
          <a:ln>
            <a:noFill/>
          </a:ln>
        </p:spPr>
      </p:pic>
      <p:sp>
        <p:nvSpPr>
          <p:cNvPr id="379" name="Google Shape;379;g36dee23fd8d_0_904"/>
          <p:cNvSpPr txBox="1"/>
          <p:nvPr/>
        </p:nvSpPr>
        <p:spPr>
          <a:xfrm>
            <a:off x="928738" y="4681250"/>
            <a:ext cx="78981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8FAFF"/>
                </a:solidFill>
                <a:highlight>
                  <a:srgbClr val="292A2D"/>
                </a:highlight>
                <a:latin typeface="Lato"/>
                <a:ea typeface="Lato"/>
                <a:cs typeface="Lato"/>
                <a:sym typeface="Lato"/>
              </a:rPr>
              <a:t>Each model has its own strengths and weaknesses in detecting different classes.</a:t>
            </a:r>
            <a:endParaRPr sz="1300">
              <a:solidFill>
                <a:schemeClr val="lt1"/>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6f49f2c906_0_69"/>
          <p:cNvSpPr txBox="1"/>
          <p:nvPr>
            <p:ph type="title"/>
          </p:nvPr>
        </p:nvSpPr>
        <p:spPr>
          <a:xfrm>
            <a:off x="1286800" y="265325"/>
            <a:ext cx="7038900" cy="622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Validation</a:t>
            </a:r>
            <a:endParaRPr/>
          </a:p>
        </p:txBody>
      </p:sp>
      <p:sp>
        <p:nvSpPr>
          <p:cNvPr id="385" name="Google Shape;385;g36f49f2c906_0_69"/>
          <p:cNvSpPr txBox="1"/>
          <p:nvPr/>
        </p:nvSpPr>
        <p:spPr>
          <a:xfrm>
            <a:off x="3167875" y="406675"/>
            <a:ext cx="5336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Mean Dice Score Per Class</a:t>
            </a:r>
            <a:endParaRPr sz="1300">
              <a:solidFill>
                <a:schemeClr val="lt1"/>
              </a:solidFill>
              <a:latin typeface="Lato"/>
              <a:ea typeface="Lato"/>
              <a:cs typeface="Lato"/>
              <a:sym typeface="Lato"/>
            </a:endParaRPr>
          </a:p>
        </p:txBody>
      </p:sp>
      <p:sp>
        <p:nvSpPr>
          <p:cNvPr id="386" name="Google Shape;386;g36f49f2c906_0_69"/>
          <p:cNvSpPr txBox="1"/>
          <p:nvPr/>
        </p:nvSpPr>
        <p:spPr>
          <a:xfrm>
            <a:off x="928738" y="4681250"/>
            <a:ext cx="78981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8FAFF"/>
                </a:solidFill>
                <a:highlight>
                  <a:srgbClr val="292A2D"/>
                </a:highlight>
                <a:latin typeface="Lato"/>
                <a:ea typeface="Lato"/>
                <a:cs typeface="Lato"/>
                <a:sym typeface="Lato"/>
              </a:rPr>
              <a:t>Each model has its own strengths and weaknesses in detecting different classes.</a:t>
            </a:r>
            <a:endParaRPr sz="1300">
              <a:solidFill>
                <a:schemeClr val="lt1"/>
              </a:solidFill>
              <a:latin typeface="Lato"/>
              <a:ea typeface="Lato"/>
              <a:cs typeface="Lato"/>
              <a:sym typeface="Lato"/>
            </a:endParaRPr>
          </a:p>
        </p:txBody>
      </p:sp>
      <p:pic>
        <p:nvPicPr>
          <p:cNvPr id="387" name="Google Shape;387;g36f49f2c906_0_69"/>
          <p:cNvPicPr preferRelativeResize="0"/>
          <p:nvPr/>
        </p:nvPicPr>
        <p:blipFill>
          <a:blip r:embed="rId3">
            <a:alphaModFix/>
          </a:blip>
          <a:stretch>
            <a:fillRect/>
          </a:stretch>
        </p:blipFill>
        <p:spPr>
          <a:xfrm>
            <a:off x="1286800" y="933025"/>
            <a:ext cx="7316581" cy="3488925"/>
          </a:xfrm>
          <a:prstGeom prst="rect">
            <a:avLst/>
          </a:prstGeom>
          <a:noFill/>
          <a:ln>
            <a:noFill/>
          </a:ln>
        </p:spPr>
      </p:pic>
      <p:pic>
        <p:nvPicPr>
          <p:cNvPr id="388" name="Google Shape;388;g36f49f2c906_0_69" title="pngegg.png"/>
          <p:cNvPicPr preferRelativeResize="0"/>
          <p:nvPr/>
        </p:nvPicPr>
        <p:blipFill>
          <a:blip r:embed="rId4">
            <a:alphaModFix/>
          </a:blip>
          <a:stretch>
            <a:fillRect/>
          </a:stretch>
        </p:blipFill>
        <p:spPr>
          <a:xfrm>
            <a:off x="3747874" y="1273275"/>
            <a:ext cx="282951" cy="277951"/>
          </a:xfrm>
          <a:prstGeom prst="rect">
            <a:avLst/>
          </a:prstGeom>
          <a:noFill/>
          <a:ln>
            <a:noFill/>
          </a:ln>
        </p:spPr>
      </p:pic>
      <p:pic>
        <p:nvPicPr>
          <p:cNvPr id="389" name="Google Shape;389;g36f49f2c906_0_69" title="pngegg.png"/>
          <p:cNvPicPr preferRelativeResize="0"/>
          <p:nvPr/>
        </p:nvPicPr>
        <p:blipFill>
          <a:blip r:embed="rId4">
            <a:alphaModFix/>
          </a:blip>
          <a:stretch>
            <a:fillRect/>
          </a:stretch>
        </p:blipFill>
        <p:spPr>
          <a:xfrm>
            <a:off x="4664774" y="1551225"/>
            <a:ext cx="282951" cy="277951"/>
          </a:xfrm>
          <a:prstGeom prst="rect">
            <a:avLst/>
          </a:prstGeom>
          <a:noFill/>
          <a:ln>
            <a:noFill/>
          </a:ln>
        </p:spPr>
      </p:pic>
      <p:pic>
        <p:nvPicPr>
          <p:cNvPr id="390" name="Google Shape;390;g36f49f2c906_0_69" title="pngegg.png"/>
          <p:cNvPicPr preferRelativeResize="0"/>
          <p:nvPr/>
        </p:nvPicPr>
        <p:blipFill>
          <a:blip r:embed="rId4">
            <a:alphaModFix/>
          </a:blip>
          <a:stretch>
            <a:fillRect/>
          </a:stretch>
        </p:blipFill>
        <p:spPr>
          <a:xfrm>
            <a:off x="2383024" y="1792900"/>
            <a:ext cx="282951" cy="277951"/>
          </a:xfrm>
          <a:prstGeom prst="rect">
            <a:avLst/>
          </a:prstGeom>
          <a:noFill/>
          <a:ln>
            <a:noFill/>
          </a:ln>
        </p:spPr>
      </p:pic>
      <p:pic>
        <p:nvPicPr>
          <p:cNvPr id="391" name="Google Shape;391;g36f49f2c906_0_69" title="pngegg.png"/>
          <p:cNvPicPr preferRelativeResize="0"/>
          <p:nvPr/>
        </p:nvPicPr>
        <p:blipFill>
          <a:blip r:embed="rId4">
            <a:alphaModFix/>
          </a:blip>
          <a:stretch>
            <a:fillRect/>
          </a:stretch>
        </p:blipFill>
        <p:spPr>
          <a:xfrm>
            <a:off x="3747874" y="2070850"/>
            <a:ext cx="282951" cy="277951"/>
          </a:xfrm>
          <a:prstGeom prst="rect">
            <a:avLst/>
          </a:prstGeom>
          <a:noFill/>
          <a:ln>
            <a:noFill/>
          </a:ln>
        </p:spPr>
      </p:pic>
      <p:pic>
        <p:nvPicPr>
          <p:cNvPr id="392" name="Google Shape;392;g36f49f2c906_0_69" title="pngegg.png"/>
          <p:cNvPicPr preferRelativeResize="0"/>
          <p:nvPr/>
        </p:nvPicPr>
        <p:blipFill>
          <a:blip r:embed="rId4">
            <a:alphaModFix/>
          </a:blip>
          <a:stretch>
            <a:fillRect/>
          </a:stretch>
        </p:blipFill>
        <p:spPr>
          <a:xfrm>
            <a:off x="3747874" y="2293800"/>
            <a:ext cx="282951" cy="277951"/>
          </a:xfrm>
          <a:prstGeom prst="rect">
            <a:avLst/>
          </a:prstGeom>
          <a:noFill/>
          <a:ln>
            <a:noFill/>
          </a:ln>
        </p:spPr>
      </p:pic>
      <p:pic>
        <p:nvPicPr>
          <p:cNvPr id="393" name="Google Shape;393;g36f49f2c906_0_69" title="pngegg.png"/>
          <p:cNvPicPr preferRelativeResize="0"/>
          <p:nvPr/>
        </p:nvPicPr>
        <p:blipFill>
          <a:blip r:embed="rId4">
            <a:alphaModFix/>
          </a:blip>
          <a:stretch>
            <a:fillRect/>
          </a:stretch>
        </p:blipFill>
        <p:spPr>
          <a:xfrm>
            <a:off x="3747874" y="2597438"/>
            <a:ext cx="282951" cy="277951"/>
          </a:xfrm>
          <a:prstGeom prst="rect">
            <a:avLst/>
          </a:prstGeom>
          <a:noFill/>
          <a:ln>
            <a:noFill/>
          </a:ln>
        </p:spPr>
      </p:pic>
      <p:pic>
        <p:nvPicPr>
          <p:cNvPr id="394" name="Google Shape;394;g36f49f2c906_0_69" title="pngegg.png"/>
          <p:cNvPicPr preferRelativeResize="0"/>
          <p:nvPr/>
        </p:nvPicPr>
        <p:blipFill>
          <a:blip r:embed="rId4">
            <a:alphaModFix/>
          </a:blip>
          <a:stretch>
            <a:fillRect/>
          </a:stretch>
        </p:blipFill>
        <p:spPr>
          <a:xfrm>
            <a:off x="7934549" y="2831988"/>
            <a:ext cx="282951" cy="277951"/>
          </a:xfrm>
          <a:prstGeom prst="rect">
            <a:avLst/>
          </a:prstGeom>
          <a:noFill/>
          <a:ln>
            <a:noFill/>
          </a:ln>
        </p:spPr>
      </p:pic>
      <p:pic>
        <p:nvPicPr>
          <p:cNvPr id="395" name="Google Shape;395;g36f49f2c906_0_69" title="pngegg.png"/>
          <p:cNvPicPr preferRelativeResize="0"/>
          <p:nvPr/>
        </p:nvPicPr>
        <p:blipFill>
          <a:blip r:embed="rId4">
            <a:alphaModFix/>
          </a:blip>
          <a:stretch>
            <a:fillRect/>
          </a:stretch>
        </p:blipFill>
        <p:spPr>
          <a:xfrm>
            <a:off x="7934549" y="3109938"/>
            <a:ext cx="282951" cy="277951"/>
          </a:xfrm>
          <a:prstGeom prst="rect">
            <a:avLst/>
          </a:prstGeom>
          <a:noFill/>
          <a:ln>
            <a:noFill/>
          </a:ln>
        </p:spPr>
      </p:pic>
      <p:pic>
        <p:nvPicPr>
          <p:cNvPr id="396" name="Google Shape;396;g36f49f2c906_0_69" title="pngegg.png"/>
          <p:cNvPicPr preferRelativeResize="0"/>
          <p:nvPr/>
        </p:nvPicPr>
        <p:blipFill>
          <a:blip r:embed="rId4">
            <a:alphaModFix/>
          </a:blip>
          <a:stretch>
            <a:fillRect/>
          </a:stretch>
        </p:blipFill>
        <p:spPr>
          <a:xfrm>
            <a:off x="4664774" y="3387888"/>
            <a:ext cx="282951" cy="277951"/>
          </a:xfrm>
          <a:prstGeom prst="rect">
            <a:avLst/>
          </a:prstGeom>
          <a:noFill/>
          <a:ln>
            <a:noFill/>
          </a:ln>
        </p:spPr>
      </p:pic>
      <p:pic>
        <p:nvPicPr>
          <p:cNvPr id="397" name="Google Shape;397;g36f49f2c906_0_69" title="pngegg.png"/>
          <p:cNvPicPr preferRelativeResize="0"/>
          <p:nvPr/>
        </p:nvPicPr>
        <p:blipFill>
          <a:blip r:embed="rId4">
            <a:alphaModFix/>
          </a:blip>
          <a:stretch>
            <a:fillRect/>
          </a:stretch>
        </p:blipFill>
        <p:spPr>
          <a:xfrm>
            <a:off x="2383024" y="3629563"/>
            <a:ext cx="282951" cy="277951"/>
          </a:xfrm>
          <a:prstGeom prst="rect">
            <a:avLst/>
          </a:prstGeom>
          <a:noFill/>
          <a:ln>
            <a:noFill/>
          </a:ln>
        </p:spPr>
      </p:pic>
      <p:pic>
        <p:nvPicPr>
          <p:cNvPr id="398" name="Google Shape;398;g36f49f2c906_0_69" title="pngegg.png"/>
          <p:cNvPicPr preferRelativeResize="0"/>
          <p:nvPr/>
        </p:nvPicPr>
        <p:blipFill>
          <a:blip r:embed="rId4">
            <a:alphaModFix/>
          </a:blip>
          <a:stretch>
            <a:fillRect/>
          </a:stretch>
        </p:blipFill>
        <p:spPr>
          <a:xfrm>
            <a:off x="4664774" y="3871238"/>
            <a:ext cx="282951" cy="277951"/>
          </a:xfrm>
          <a:prstGeom prst="rect">
            <a:avLst/>
          </a:prstGeom>
          <a:noFill/>
          <a:ln>
            <a:noFill/>
          </a:ln>
        </p:spPr>
      </p:pic>
      <p:pic>
        <p:nvPicPr>
          <p:cNvPr id="399" name="Google Shape;399;g36f49f2c906_0_69" title="pngegg.png"/>
          <p:cNvPicPr preferRelativeResize="0"/>
          <p:nvPr/>
        </p:nvPicPr>
        <p:blipFill>
          <a:blip r:embed="rId4">
            <a:alphaModFix/>
          </a:blip>
          <a:stretch>
            <a:fillRect/>
          </a:stretch>
        </p:blipFill>
        <p:spPr>
          <a:xfrm>
            <a:off x="2383024" y="4155400"/>
            <a:ext cx="282951" cy="277951"/>
          </a:xfrm>
          <a:prstGeom prst="rect">
            <a:avLst/>
          </a:prstGeom>
          <a:noFill/>
          <a:ln>
            <a:noFill/>
          </a:ln>
        </p:spPr>
      </p:pic>
      <p:pic>
        <p:nvPicPr>
          <p:cNvPr id="400" name="Google Shape;400;g36f49f2c906_0_69" title="cross.png"/>
          <p:cNvPicPr preferRelativeResize="0"/>
          <p:nvPr/>
        </p:nvPicPr>
        <p:blipFill>
          <a:blip r:embed="rId5">
            <a:alphaModFix/>
          </a:blip>
          <a:stretch>
            <a:fillRect/>
          </a:stretch>
        </p:blipFill>
        <p:spPr>
          <a:xfrm>
            <a:off x="5663200" y="1329600"/>
            <a:ext cx="144623" cy="165299"/>
          </a:xfrm>
          <a:prstGeom prst="rect">
            <a:avLst/>
          </a:prstGeom>
          <a:noFill/>
          <a:ln>
            <a:noFill/>
          </a:ln>
        </p:spPr>
      </p:pic>
      <p:pic>
        <p:nvPicPr>
          <p:cNvPr id="401" name="Google Shape;401;g36f49f2c906_0_69" title="cross.png"/>
          <p:cNvPicPr preferRelativeResize="0"/>
          <p:nvPr/>
        </p:nvPicPr>
        <p:blipFill>
          <a:blip r:embed="rId5">
            <a:alphaModFix/>
          </a:blip>
          <a:stretch>
            <a:fillRect/>
          </a:stretch>
        </p:blipFill>
        <p:spPr>
          <a:xfrm>
            <a:off x="5663200" y="1607550"/>
            <a:ext cx="144623" cy="165299"/>
          </a:xfrm>
          <a:prstGeom prst="rect">
            <a:avLst/>
          </a:prstGeom>
          <a:noFill/>
          <a:ln>
            <a:noFill/>
          </a:ln>
        </p:spPr>
      </p:pic>
      <p:pic>
        <p:nvPicPr>
          <p:cNvPr id="402" name="Google Shape;402;g36f49f2c906_0_69" title="cross.png"/>
          <p:cNvPicPr preferRelativeResize="0"/>
          <p:nvPr/>
        </p:nvPicPr>
        <p:blipFill>
          <a:blip r:embed="rId5">
            <a:alphaModFix/>
          </a:blip>
          <a:stretch>
            <a:fillRect/>
          </a:stretch>
        </p:blipFill>
        <p:spPr>
          <a:xfrm>
            <a:off x="7049300" y="1849225"/>
            <a:ext cx="144623" cy="165299"/>
          </a:xfrm>
          <a:prstGeom prst="rect">
            <a:avLst/>
          </a:prstGeom>
          <a:noFill/>
          <a:ln>
            <a:noFill/>
          </a:ln>
        </p:spPr>
      </p:pic>
      <p:pic>
        <p:nvPicPr>
          <p:cNvPr id="403" name="Google Shape;403;g36f49f2c906_0_69" title="cross.png"/>
          <p:cNvPicPr preferRelativeResize="0"/>
          <p:nvPr/>
        </p:nvPicPr>
        <p:blipFill>
          <a:blip r:embed="rId5">
            <a:alphaModFix/>
          </a:blip>
          <a:stretch>
            <a:fillRect/>
          </a:stretch>
        </p:blipFill>
        <p:spPr>
          <a:xfrm>
            <a:off x="5663200" y="2127175"/>
            <a:ext cx="144623" cy="165299"/>
          </a:xfrm>
          <a:prstGeom prst="rect">
            <a:avLst/>
          </a:prstGeom>
          <a:noFill/>
          <a:ln>
            <a:noFill/>
          </a:ln>
        </p:spPr>
      </p:pic>
      <p:pic>
        <p:nvPicPr>
          <p:cNvPr id="404" name="Google Shape;404;g36f49f2c906_0_69" title="cross.png"/>
          <p:cNvPicPr preferRelativeResize="0"/>
          <p:nvPr/>
        </p:nvPicPr>
        <p:blipFill>
          <a:blip r:embed="rId5">
            <a:alphaModFix/>
          </a:blip>
          <a:stretch>
            <a:fillRect/>
          </a:stretch>
        </p:blipFill>
        <p:spPr>
          <a:xfrm>
            <a:off x="5663200" y="2406450"/>
            <a:ext cx="144623" cy="165299"/>
          </a:xfrm>
          <a:prstGeom prst="rect">
            <a:avLst/>
          </a:prstGeom>
          <a:noFill/>
          <a:ln>
            <a:noFill/>
          </a:ln>
        </p:spPr>
      </p:pic>
      <p:pic>
        <p:nvPicPr>
          <p:cNvPr id="405" name="Google Shape;405;g36f49f2c906_0_69" title="cross.png"/>
          <p:cNvPicPr preferRelativeResize="0"/>
          <p:nvPr/>
        </p:nvPicPr>
        <p:blipFill>
          <a:blip r:embed="rId5">
            <a:alphaModFix/>
          </a:blip>
          <a:stretch>
            <a:fillRect/>
          </a:stretch>
        </p:blipFill>
        <p:spPr>
          <a:xfrm>
            <a:off x="2452187" y="2653775"/>
            <a:ext cx="144623" cy="165299"/>
          </a:xfrm>
          <a:prstGeom prst="rect">
            <a:avLst/>
          </a:prstGeom>
          <a:noFill/>
          <a:ln>
            <a:noFill/>
          </a:ln>
        </p:spPr>
      </p:pic>
      <p:pic>
        <p:nvPicPr>
          <p:cNvPr id="406" name="Google Shape;406;g36f49f2c906_0_69" title="cross.png"/>
          <p:cNvPicPr preferRelativeResize="0"/>
          <p:nvPr/>
        </p:nvPicPr>
        <p:blipFill>
          <a:blip r:embed="rId5">
            <a:alphaModFix/>
          </a:blip>
          <a:stretch>
            <a:fillRect/>
          </a:stretch>
        </p:blipFill>
        <p:spPr>
          <a:xfrm>
            <a:off x="7049312" y="2888325"/>
            <a:ext cx="144623" cy="165299"/>
          </a:xfrm>
          <a:prstGeom prst="rect">
            <a:avLst/>
          </a:prstGeom>
          <a:noFill/>
          <a:ln>
            <a:noFill/>
          </a:ln>
        </p:spPr>
      </p:pic>
      <p:pic>
        <p:nvPicPr>
          <p:cNvPr id="407" name="Google Shape;407;g36f49f2c906_0_69" title="cross.png"/>
          <p:cNvPicPr preferRelativeResize="0"/>
          <p:nvPr/>
        </p:nvPicPr>
        <p:blipFill>
          <a:blip r:embed="rId5">
            <a:alphaModFix/>
          </a:blip>
          <a:stretch>
            <a:fillRect/>
          </a:stretch>
        </p:blipFill>
        <p:spPr>
          <a:xfrm>
            <a:off x="5663212" y="3144400"/>
            <a:ext cx="144623" cy="165299"/>
          </a:xfrm>
          <a:prstGeom prst="rect">
            <a:avLst/>
          </a:prstGeom>
          <a:noFill/>
          <a:ln>
            <a:noFill/>
          </a:ln>
        </p:spPr>
      </p:pic>
      <p:pic>
        <p:nvPicPr>
          <p:cNvPr id="408" name="Google Shape;408;g36f49f2c906_0_69" title="cross.png"/>
          <p:cNvPicPr preferRelativeResize="0"/>
          <p:nvPr/>
        </p:nvPicPr>
        <p:blipFill>
          <a:blip r:embed="rId5">
            <a:alphaModFix/>
          </a:blip>
          <a:stretch>
            <a:fillRect/>
          </a:stretch>
        </p:blipFill>
        <p:spPr>
          <a:xfrm>
            <a:off x="2452200" y="3141675"/>
            <a:ext cx="144623" cy="165299"/>
          </a:xfrm>
          <a:prstGeom prst="rect">
            <a:avLst/>
          </a:prstGeom>
          <a:noFill/>
          <a:ln>
            <a:noFill/>
          </a:ln>
        </p:spPr>
      </p:pic>
      <p:pic>
        <p:nvPicPr>
          <p:cNvPr id="409" name="Google Shape;409;g36f49f2c906_0_69" title="cross.png"/>
          <p:cNvPicPr preferRelativeResize="0"/>
          <p:nvPr/>
        </p:nvPicPr>
        <p:blipFill>
          <a:blip r:embed="rId5">
            <a:alphaModFix/>
          </a:blip>
          <a:stretch>
            <a:fillRect/>
          </a:stretch>
        </p:blipFill>
        <p:spPr>
          <a:xfrm>
            <a:off x="5663200" y="3404212"/>
            <a:ext cx="144623" cy="165299"/>
          </a:xfrm>
          <a:prstGeom prst="rect">
            <a:avLst/>
          </a:prstGeom>
          <a:noFill/>
          <a:ln>
            <a:noFill/>
          </a:ln>
        </p:spPr>
      </p:pic>
      <p:pic>
        <p:nvPicPr>
          <p:cNvPr id="410" name="Google Shape;410;g36f49f2c906_0_69" title="cross.png"/>
          <p:cNvPicPr preferRelativeResize="0"/>
          <p:nvPr/>
        </p:nvPicPr>
        <p:blipFill>
          <a:blip r:embed="rId5">
            <a:alphaModFix/>
          </a:blip>
          <a:stretch>
            <a:fillRect/>
          </a:stretch>
        </p:blipFill>
        <p:spPr>
          <a:xfrm>
            <a:off x="5663200" y="3685912"/>
            <a:ext cx="144623" cy="165299"/>
          </a:xfrm>
          <a:prstGeom prst="rect">
            <a:avLst/>
          </a:prstGeom>
          <a:noFill/>
          <a:ln>
            <a:noFill/>
          </a:ln>
        </p:spPr>
      </p:pic>
      <p:pic>
        <p:nvPicPr>
          <p:cNvPr id="411" name="Google Shape;411;g36f49f2c906_0_69" title="cross.png"/>
          <p:cNvPicPr preferRelativeResize="0"/>
          <p:nvPr/>
        </p:nvPicPr>
        <p:blipFill>
          <a:blip r:embed="rId5">
            <a:alphaModFix/>
          </a:blip>
          <a:stretch>
            <a:fillRect/>
          </a:stretch>
        </p:blipFill>
        <p:spPr>
          <a:xfrm>
            <a:off x="5663200" y="3967612"/>
            <a:ext cx="144623" cy="165299"/>
          </a:xfrm>
          <a:prstGeom prst="rect">
            <a:avLst/>
          </a:prstGeom>
          <a:noFill/>
          <a:ln>
            <a:noFill/>
          </a:ln>
        </p:spPr>
      </p:pic>
      <p:pic>
        <p:nvPicPr>
          <p:cNvPr id="412" name="Google Shape;412;g36f49f2c906_0_69" title="cross.png"/>
          <p:cNvPicPr preferRelativeResize="0"/>
          <p:nvPr/>
        </p:nvPicPr>
        <p:blipFill>
          <a:blip r:embed="rId5">
            <a:alphaModFix/>
          </a:blip>
          <a:stretch>
            <a:fillRect/>
          </a:stretch>
        </p:blipFill>
        <p:spPr>
          <a:xfrm>
            <a:off x="2452175" y="3911475"/>
            <a:ext cx="144623" cy="165299"/>
          </a:xfrm>
          <a:prstGeom prst="rect">
            <a:avLst/>
          </a:prstGeom>
          <a:noFill/>
          <a:ln>
            <a:noFill/>
          </a:ln>
        </p:spPr>
      </p:pic>
      <p:pic>
        <p:nvPicPr>
          <p:cNvPr id="413" name="Google Shape;413;g36f49f2c906_0_69" title="cross.png"/>
          <p:cNvPicPr preferRelativeResize="0"/>
          <p:nvPr/>
        </p:nvPicPr>
        <p:blipFill>
          <a:blip r:embed="rId5">
            <a:alphaModFix/>
          </a:blip>
          <a:stretch>
            <a:fillRect/>
          </a:stretch>
        </p:blipFill>
        <p:spPr>
          <a:xfrm>
            <a:off x="7049300" y="4211737"/>
            <a:ext cx="144623" cy="1652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Inference FCN8s</a:t>
            </a:r>
            <a:endParaRPr/>
          </a:p>
        </p:txBody>
      </p:sp>
      <p:sp>
        <p:nvSpPr>
          <p:cNvPr id="419" name="Google Shape;419;p10"/>
          <p:cNvSpPr txBox="1"/>
          <p:nvPr/>
        </p:nvSpPr>
        <p:spPr>
          <a:xfrm>
            <a:off x="1460225" y="1131575"/>
            <a:ext cx="2572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Loss Function: Dice Loss</a:t>
            </a:r>
            <a:endParaRPr sz="1300">
              <a:solidFill>
                <a:schemeClr val="lt1"/>
              </a:solidFill>
              <a:latin typeface="Lato"/>
              <a:ea typeface="Lato"/>
              <a:cs typeface="Lato"/>
              <a:sym typeface="Lato"/>
            </a:endParaRPr>
          </a:p>
        </p:txBody>
      </p:sp>
      <p:pic>
        <p:nvPicPr>
          <p:cNvPr id="420" name="Google Shape;420;p10"/>
          <p:cNvPicPr preferRelativeResize="0"/>
          <p:nvPr/>
        </p:nvPicPr>
        <p:blipFill>
          <a:blip r:embed="rId3">
            <a:alphaModFix/>
          </a:blip>
          <a:stretch>
            <a:fillRect/>
          </a:stretch>
        </p:blipFill>
        <p:spPr>
          <a:xfrm>
            <a:off x="600075" y="1668875"/>
            <a:ext cx="8391524" cy="2706499"/>
          </a:xfrm>
          <a:prstGeom prst="rect">
            <a:avLst/>
          </a:prstGeom>
          <a:noFill/>
          <a:ln>
            <a:noFill/>
          </a:ln>
        </p:spPr>
      </p:pic>
      <p:sp>
        <p:nvSpPr>
          <p:cNvPr id="421" name="Google Shape;421;p10"/>
          <p:cNvSpPr txBox="1"/>
          <p:nvPr/>
        </p:nvSpPr>
        <p:spPr>
          <a:xfrm>
            <a:off x="1460225" y="4473475"/>
            <a:ext cx="67719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Big object such as Building, Roadwalk, Vegetation, Car still can be segmentized.</a:t>
            </a:r>
            <a:endParaRPr sz="1200">
              <a:solidFill>
                <a:schemeClr val="lt1"/>
              </a:solidFill>
              <a:latin typeface="Lato"/>
              <a:ea typeface="Lato"/>
              <a:cs typeface="Lato"/>
              <a:sym typeface="Lato"/>
            </a:endParaRPr>
          </a:p>
          <a:p>
            <a:pPr indent="0" lvl="0" marL="0" rtl="0" algn="ctr">
              <a:spcBef>
                <a:spcPts val="0"/>
              </a:spcBef>
              <a:spcAft>
                <a:spcPts val="0"/>
              </a:spcAft>
              <a:buNone/>
            </a:pPr>
            <a:r>
              <a:rPr lang="en" sz="1200">
                <a:solidFill>
                  <a:schemeClr val="lt1"/>
                </a:solidFill>
                <a:latin typeface="Lato"/>
                <a:ea typeface="Lato"/>
                <a:cs typeface="Lato"/>
                <a:sym typeface="Lato"/>
              </a:rPr>
              <a:t>Medium and small object such as Rider, Person, Pole are not detected by the model</a:t>
            </a:r>
            <a:endParaRPr sz="1200">
              <a:solidFill>
                <a:schemeClr val="lt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6dee23fd8d_0_9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Inference FCN8s</a:t>
            </a:r>
            <a:endParaRPr/>
          </a:p>
        </p:txBody>
      </p:sp>
      <p:sp>
        <p:nvSpPr>
          <p:cNvPr id="427" name="Google Shape;427;g36dee23fd8d_0_915"/>
          <p:cNvSpPr txBox="1"/>
          <p:nvPr/>
        </p:nvSpPr>
        <p:spPr>
          <a:xfrm>
            <a:off x="1460225" y="1131575"/>
            <a:ext cx="3111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Loss Function: Cross Entropy Loss</a:t>
            </a:r>
            <a:endParaRPr sz="1300">
              <a:solidFill>
                <a:schemeClr val="lt1"/>
              </a:solidFill>
              <a:latin typeface="Lato"/>
              <a:ea typeface="Lato"/>
              <a:cs typeface="Lato"/>
              <a:sym typeface="Lato"/>
            </a:endParaRPr>
          </a:p>
        </p:txBody>
      </p:sp>
      <p:sp>
        <p:nvSpPr>
          <p:cNvPr id="428" name="Google Shape;428;g36dee23fd8d_0_915"/>
          <p:cNvSpPr txBox="1"/>
          <p:nvPr/>
        </p:nvSpPr>
        <p:spPr>
          <a:xfrm>
            <a:off x="1431000" y="4387750"/>
            <a:ext cx="67719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Big and medium object such as Building, Roadwalk, Vegetation, Car, Rider, Person can be segmentized.</a:t>
            </a:r>
            <a:endParaRPr sz="1200">
              <a:solidFill>
                <a:schemeClr val="lt1"/>
              </a:solidFill>
              <a:latin typeface="Lato"/>
              <a:ea typeface="Lato"/>
              <a:cs typeface="Lato"/>
              <a:sym typeface="Lato"/>
            </a:endParaRPr>
          </a:p>
          <a:p>
            <a:pPr indent="0" lvl="0" marL="0" rtl="0" algn="ctr">
              <a:spcBef>
                <a:spcPts val="0"/>
              </a:spcBef>
              <a:spcAft>
                <a:spcPts val="0"/>
              </a:spcAft>
              <a:buNone/>
            </a:pPr>
            <a:r>
              <a:rPr lang="en" sz="1200">
                <a:solidFill>
                  <a:schemeClr val="lt1"/>
                </a:solidFill>
                <a:latin typeface="Lato"/>
                <a:ea typeface="Lato"/>
                <a:cs typeface="Lato"/>
                <a:sym typeface="Lato"/>
              </a:rPr>
              <a:t>Some false classification to object that are similar.</a:t>
            </a:r>
            <a:endParaRPr sz="1200">
              <a:solidFill>
                <a:schemeClr val="lt1"/>
              </a:solidFill>
              <a:latin typeface="Lato"/>
              <a:ea typeface="Lato"/>
              <a:cs typeface="Lato"/>
              <a:sym typeface="Lato"/>
            </a:endParaRPr>
          </a:p>
        </p:txBody>
      </p:sp>
      <p:pic>
        <p:nvPicPr>
          <p:cNvPr id="429" name="Google Shape;429;g36dee23fd8d_0_915"/>
          <p:cNvPicPr preferRelativeResize="0"/>
          <p:nvPr/>
        </p:nvPicPr>
        <p:blipFill>
          <a:blip r:embed="rId3">
            <a:alphaModFix/>
          </a:blip>
          <a:stretch>
            <a:fillRect/>
          </a:stretch>
        </p:blipFill>
        <p:spPr>
          <a:xfrm>
            <a:off x="752475" y="1668875"/>
            <a:ext cx="8010108" cy="25664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36dee23fd8d_0_94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Inference FCN8s</a:t>
            </a:r>
            <a:endParaRPr/>
          </a:p>
        </p:txBody>
      </p:sp>
      <p:sp>
        <p:nvSpPr>
          <p:cNvPr id="435" name="Google Shape;435;g36dee23fd8d_0_940"/>
          <p:cNvSpPr txBox="1"/>
          <p:nvPr/>
        </p:nvSpPr>
        <p:spPr>
          <a:xfrm>
            <a:off x="1460225" y="1131575"/>
            <a:ext cx="352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Loss Function: Combined</a:t>
            </a:r>
            <a:endParaRPr sz="1300">
              <a:solidFill>
                <a:schemeClr val="lt1"/>
              </a:solidFill>
              <a:latin typeface="Lato"/>
              <a:ea typeface="Lato"/>
              <a:cs typeface="Lato"/>
              <a:sym typeface="Lato"/>
            </a:endParaRPr>
          </a:p>
        </p:txBody>
      </p:sp>
      <p:sp>
        <p:nvSpPr>
          <p:cNvPr id="436" name="Google Shape;436;g36dee23fd8d_0_940"/>
          <p:cNvSpPr txBox="1"/>
          <p:nvPr/>
        </p:nvSpPr>
        <p:spPr>
          <a:xfrm>
            <a:off x="1431000" y="4340125"/>
            <a:ext cx="67719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Lato"/>
                <a:ea typeface="Lato"/>
                <a:cs typeface="Lato"/>
                <a:sym typeface="Lato"/>
              </a:rPr>
              <a:t>Almost identical result with Model trained with Cross Entropy Loss Function. Model is capable to detect most of classes, except small one such as Pole and Traffic Sign</a:t>
            </a:r>
            <a:endParaRPr sz="1200">
              <a:solidFill>
                <a:schemeClr val="lt1"/>
              </a:solidFill>
              <a:latin typeface="Lato"/>
              <a:ea typeface="Lato"/>
              <a:cs typeface="Lato"/>
              <a:sym typeface="Lato"/>
            </a:endParaRPr>
          </a:p>
        </p:txBody>
      </p:sp>
      <p:pic>
        <p:nvPicPr>
          <p:cNvPr id="437" name="Google Shape;437;g36dee23fd8d_0_940"/>
          <p:cNvPicPr preferRelativeResize="0"/>
          <p:nvPr/>
        </p:nvPicPr>
        <p:blipFill>
          <a:blip r:embed="rId3">
            <a:alphaModFix/>
          </a:blip>
          <a:stretch>
            <a:fillRect/>
          </a:stretch>
        </p:blipFill>
        <p:spPr>
          <a:xfrm>
            <a:off x="936263" y="1668875"/>
            <a:ext cx="7761371" cy="2518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6dee23fd8d_0_94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Inference U-Net</a:t>
            </a:r>
            <a:endParaRPr/>
          </a:p>
        </p:txBody>
      </p:sp>
      <p:sp>
        <p:nvSpPr>
          <p:cNvPr id="443" name="Google Shape;443;g36dee23fd8d_0_947"/>
          <p:cNvSpPr txBox="1"/>
          <p:nvPr/>
        </p:nvSpPr>
        <p:spPr>
          <a:xfrm>
            <a:off x="1460225" y="1131575"/>
            <a:ext cx="2572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Loss Function: Dice Loss</a:t>
            </a:r>
            <a:endParaRPr sz="1300">
              <a:solidFill>
                <a:schemeClr val="lt1"/>
              </a:solidFill>
              <a:latin typeface="Lato"/>
              <a:ea typeface="Lato"/>
              <a:cs typeface="Lato"/>
              <a:sym typeface="Lato"/>
            </a:endParaRPr>
          </a:p>
        </p:txBody>
      </p:sp>
      <p:sp>
        <p:nvSpPr>
          <p:cNvPr id="444" name="Google Shape;444;g36dee23fd8d_0_947"/>
          <p:cNvSpPr txBox="1"/>
          <p:nvPr/>
        </p:nvSpPr>
        <p:spPr>
          <a:xfrm>
            <a:off x="1431000" y="4416325"/>
            <a:ext cx="67719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8FAFF"/>
                </a:solidFill>
                <a:highlight>
                  <a:srgbClr val="292A2D"/>
                </a:highlight>
                <a:latin typeface="Lato"/>
                <a:ea typeface="Lato"/>
                <a:cs typeface="Lato"/>
                <a:sym typeface="Lato"/>
              </a:rPr>
              <a:t>The predicted mask appears to capture most major classes (e.g., sky, road, vehicles) similarly to the ground truth, but discrepancies may exist in finer details (e.g., poles, traffic signs) or ambiguous regions (e.g., edges of sidewalks, vegetation)</a:t>
            </a:r>
            <a:endParaRPr sz="1200">
              <a:solidFill>
                <a:schemeClr val="lt1"/>
              </a:solidFill>
              <a:latin typeface="Lato"/>
              <a:ea typeface="Lato"/>
              <a:cs typeface="Lato"/>
              <a:sym typeface="Lato"/>
            </a:endParaRPr>
          </a:p>
        </p:txBody>
      </p:sp>
      <p:pic>
        <p:nvPicPr>
          <p:cNvPr id="445" name="Google Shape;445;g36dee23fd8d_0_947"/>
          <p:cNvPicPr preferRelativeResize="0"/>
          <p:nvPr/>
        </p:nvPicPr>
        <p:blipFill>
          <a:blip r:embed="rId3">
            <a:alphaModFix/>
          </a:blip>
          <a:stretch>
            <a:fillRect/>
          </a:stretch>
        </p:blipFill>
        <p:spPr>
          <a:xfrm>
            <a:off x="542925" y="1516475"/>
            <a:ext cx="8300316" cy="2652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6dee23fd8d_0_95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Inference U-Net</a:t>
            </a:r>
            <a:endParaRPr/>
          </a:p>
        </p:txBody>
      </p:sp>
      <p:sp>
        <p:nvSpPr>
          <p:cNvPr id="451" name="Google Shape;451;g36dee23fd8d_0_953"/>
          <p:cNvSpPr txBox="1"/>
          <p:nvPr/>
        </p:nvSpPr>
        <p:spPr>
          <a:xfrm>
            <a:off x="1460225" y="1131575"/>
            <a:ext cx="3111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Loss Function: Cross Entropy Loss</a:t>
            </a:r>
            <a:endParaRPr sz="1300">
              <a:solidFill>
                <a:schemeClr val="lt1"/>
              </a:solidFill>
              <a:latin typeface="Lato"/>
              <a:ea typeface="Lato"/>
              <a:cs typeface="Lato"/>
              <a:sym typeface="Lato"/>
            </a:endParaRPr>
          </a:p>
        </p:txBody>
      </p:sp>
      <p:pic>
        <p:nvPicPr>
          <p:cNvPr id="452" name="Google Shape;452;g36dee23fd8d_0_953"/>
          <p:cNvPicPr preferRelativeResize="0"/>
          <p:nvPr/>
        </p:nvPicPr>
        <p:blipFill>
          <a:blip r:embed="rId3">
            <a:alphaModFix/>
          </a:blip>
          <a:stretch>
            <a:fillRect/>
          </a:stretch>
        </p:blipFill>
        <p:spPr>
          <a:xfrm>
            <a:off x="1092325" y="1516475"/>
            <a:ext cx="7654775" cy="2464850"/>
          </a:xfrm>
          <a:prstGeom prst="rect">
            <a:avLst/>
          </a:prstGeom>
          <a:noFill/>
          <a:ln>
            <a:noFill/>
          </a:ln>
        </p:spPr>
      </p:pic>
      <p:sp>
        <p:nvSpPr>
          <p:cNvPr id="453" name="Google Shape;453;g36dee23fd8d_0_953"/>
          <p:cNvSpPr txBox="1"/>
          <p:nvPr/>
        </p:nvSpPr>
        <p:spPr>
          <a:xfrm>
            <a:off x="1431000" y="4416325"/>
            <a:ext cx="67719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8FAFF"/>
                </a:solidFill>
                <a:highlight>
                  <a:srgbClr val="292A2D"/>
                </a:highlight>
                <a:latin typeface="Lato"/>
                <a:ea typeface="Lato"/>
                <a:cs typeface="Lato"/>
                <a:sym typeface="Lato"/>
              </a:rPr>
              <a:t>Pixel accuracy is better then U-Net trained with Dice Loss but small imbalance model (ex: Traffic Sign and Pole) is detection is lesser than U-Net trained with Dice Loss</a:t>
            </a:r>
            <a:endParaRPr sz="1200">
              <a:solidFill>
                <a:schemeClr val="l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6dee23fd8d_0_95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Inference U-Net</a:t>
            </a:r>
            <a:endParaRPr/>
          </a:p>
        </p:txBody>
      </p:sp>
      <p:sp>
        <p:nvSpPr>
          <p:cNvPr id="459" name="Google Shape;459;g36dee23fd8d_0_959"/>
          <p:cNvSpPr txBox="1"/>
          <p:nvPr/>
        </p:nvSpPr>
        <p:spPr>
          <a:xfrm>
            <a:off x="1460225" y="1131575"/>
            <a:ext cx="352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Loss Function: Combined</a:t>
            </a:r>
            <a:endParaRPr sz="1300">
              <a:solidFill>
                <a:schemeClr val="lt1"/>
              </a:solidFill>
              <a:latin typeface="Lato"/>
              <a:ea typeface="Lato"/>
              <a:cs typeface="Lato"/>
              <a:sym typeface="Lato"/>
            </a:endParaRPr>
          </a:p>
        </p:txBody>
      </p:sp>
      <p:sp>
        <p:nvSpPr>
          <p:cNvPr id="460" name="Google Shape;460;g36dee23fd8d_0_959"/>
          <p:cNvSpPr txBox="1"/>
          <p:nvPr/>
        </p:nvSpPr>
        <p:spPr>
          <a:xfrm>
            <a:off x="1431000" y="4416325"/>
            <a:ext cx="67719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8FAFF"/>
                </a:solidFill>
                <a:highlight>
                  <a:srgbClr val="292A2D"/>
                </a:highlight>
                <a:latin typeface="Lato"/>
                <a:ea typeface="Lato"/>
                <a:cs typeface="Lato"/>
                <a:sym typeface="Lato"/>
              </a:rPr>
              <a:t>Pixel accuracy is better th</a:t>
            </a:r>
            <a:endParaRPr sz="1200">
              <a:solidFill>
                <a:schemeClr val="lt1"/>
              </a:solidFill>
              <a:latin typeface="Lato"/>
              <a:ea typeface="Lato"/>
              <a:cs typeface="Lato"/>
              <a:sym typeface="Lato"/>
            </a:endParaRPr>
          </a:p>
        </p:txBody>
      </p:sp>
      <p:sp>
        <p:nvSpPr>
          <p:cNvPr id="461" name="Google Shape;461;g36dee23fd8d_0_959"/>
          <p:cNvSpPr txBox="1"/>
          <p:nvPr/>
        </p:nvSpPr>
        <p:spPr>
          <a:xfrm>
            <a:off x="1431000" y="4416325"/>
            <a:ext cx="6771900" cy="50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8FAFF"/>
                </a:solidFill>
                <a:highlight>
                  <a:srgbClr val="292A2D"/>
                </a:highlight>
                <a:latin typeface="Lato"/>
                <a:ea typeface="Lato"/>
                <a:cs typeface="Lato"/>
                <a:sym typeface="Lato"/>
              </a:rPr>
              <a:t>The combination of the Dice Loss and Cross Entropy Loss functions improves model performance. Detection of small objects (e.g., person, traffic sign, pole) is comparable to using Dice Loss alone, while pixel-level accuracy remains comparable to Cross Entropy Loss</a:t>
            </a:r>
            <a:endParaRPr sz="1200">
              <a:solidFill>
                <a:schemeClr val="lt1"/>
              </a:solidFill>
              <a:latin typeface="Lato"/>
              <a:ea typeface="Lato"/>
              <a:cs typeface="Lato"/>
              <a:sym typeface="Lato"/>
            </a:endParaRPr>
          </a:p>
        </p:txBody>
      </p:sp>
      <p:pic>
        <p:nvPicPr>
          <p:cNvPr id="462" name="Google Shape;462;g36dee23fd8d_0_959"/>
          <p:cNvPicPr preferRelativeResize="0"/>
          <p:nvPr/>
        </p:nvPicPr>
        <p:blipFill>
          <a:blip r:embed="rId3">
            <a:alphaModFix/>
          </a:blip>
          <a:stretch>
            <a:fillRect/>
          </a:stretch>
        </p:blipFill>
        <p:spPr>
          <a:xfrm>
            <a:off x="990600" y="1564563"/>
            <a:ext cx="7516839" cy="25950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Conclusion &amp; Future improvement</a:t>
            </a:r>
            <a:endParaRPr/>
          </a:p>
        </p:txBody>
      </p:sp>
      <p:sp>
        <p:nvSpPr>
          <p:cNvPr id="468" name="Google Shape;468;p11"/>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fontScale="92500" lnSpcReduction="20000"/>
          </a:bodyPr>
          <a:lstStyle/>
          <a:p>
            <a:pPr indent="-334327" lvl="0" marL="457200" rtl="0" algn="l">
              <a:lnSpc>
                <a:spcPct val="115000"/>
              </a:lnSpc>
              <a:spcBef>
                <a:spcPts val="0"/>
              </a:spcBef>
              <a:spcAft>
                <a:spcPts val="0"/>
              </a:spcAft>
              <a:buSzPct val="100000"/>
              <a:buAutoNum type="arabicPeriod"/>
            </a:pPr>
            <a:r>
              <a:rPr b="1" lang="en" sz="1800" u="sng"/>
              <a:t>Conclusion:</a:t>
            </a:r>
            <a:endParaRPr b="1" sz="1800" u="sng"/>
          </a:p>
          <a:p>
            <a:pPr indent="-293211" lvl="1" marL="914400" rtl="0" algn="l">
              <a:lnSpc>
                <a:spcPct val="115000"/>
              </a:lnSpc>
              <a:spcBef>
                <a:spcPts val="0"/>
              </a:spcBef>
              <a:spcAft>
                <a:spcPts val="0"/>
              </a:spcAft>
              <a:buSzPct val="100000"/>
              <a:buAutoNum type="alphaLcPeriod"/>
            </a:pPr>
            <a:r>
              <a:rPr lang="en"/>
              <a:t>FCN8s and U-Net are both capable of performing object segmentation on the Cityscapes dataset</a:t>
            </a:r>
            <a:endParaRPr/>
          </a:p>
          <a:p>
            <a:pPr indent="-293211" lvl="1" marL="914400" rtl="0" algn="l">
              <a:lnSpc>
                <a:spcPct val="115000"/>
              </a:lnSpc>
              <a:spcBef>
                <a:spcPts val="0"/>
              </a:spcBef>
              <a:spcAft>
                <a:spcPts val="0"/>
              </a:spcAft>
              <a:buSzPct val="100000"/>
              <a:buAutoNum type="alphaLcPeriod"/>
            </a:pPr>
            <a:r>
              <a:rPr lang="en"/>
              <a:t>The choice of training loss function significantly impacts the accuracy of both FCN8s and U-Net. Best loss function for Cityscape </a:t>
            </a:r>
            <a:r>
              <a:rPr lang="en"/>
              <a:t>semantic</a:t>
            </a:r>
            <a:r>
              <a:rPr lang="en"/>
              <a:t> segmentation is Combination of Dice Loss and Cross Entropy Loss (50% of Dice Loss + 50% of Cross Entropy Loss)</a:t>
            </a:r>
            <a:endParaRPr/>
          </a:p>
          <a:p>
            <a:pPr indent="-293211" lvl="1" marL="914400" rtl="0" algn="l">
              <a:lnSpc>
                <a:spcPct val="115000"/>
              </a:lnSpc>
              <a:spcBef>
                <a:spcPts val="0"/>
              </a:spcBef>
              <a:spcAft>
                <a:spcPts val="0"/>
              </a:spcAft>
              <a:buSzPct val="100000"/>
              <a:buAutoNum type="alphaLcPeriod"/>
            </a:pPr>
            <a:r>
              <a:rPr lang="en"/>
              <a:t>FCN8s demonstrates faster training (2 times faster) and inference times (2,6 times faster) compared to U-Net, making it more suitable for applications requiring rapid processing</a:t>
            </a:r>
            <a:endParaRPr/>
          </a:p>
          <a:p>
            <a:pPr indent="-293211" lvl="1" marL="914400" rtl="0" algn="l">
              <a:lnSpc>
                <a:spcPct val="115000"/>
              </a:lnSpc>
              <a:spcBef>
                <a:spcPts val="0"/>
              </a:spcBef>
              <a:spcAft>
                <a:spcPts val="0"/>
              </a:spcAft>
              <a:buSzPct val="100000"/>
              <a:buAutoNum type="alphaLcPeriod"/>
            </a:pPr>
            <a:r>
              <a:rPr lang="en"/>
              <a:t>U-Net trained with Combined Loss Function has the best accuracy during inference test (Mean IoU SCore: 0.59 and Average Dice Score: 0.91)</a:t>
            </a:r>
            <a:endParaRPr/>
          </a:p>
          <a:p>
            <a:pPr indent="0" lvl="0" marL="0" rtl="0" algn="l">
              <a:lnSpc>
                <a:spcPct val="115000"/>
              </a:lnSpc>
              <a:spcBef>
                <a:spcPts val="0"/>
              </a:spcBef>
              <a:spcAft>
                <a:spcPts val="0"/>
              </a:spcAft>
              <a:buNone/>
            </a:pPr>
            <a:r>
              <a:t/>
            </a:r>
            <a:endParaRPr sz="1800"/>
          </a:p>
          <a:p>
            <a:pPr indent="-334327" lvl="0" marL="457200" rtl="0" algn="l">
              <a:lnSpc>
                <a:spcPct val="115000"/>
              </a:lnSpc>
              <a:spcBef>
                <a:spcPts val="0"/>
              </a:spcBef>
              <a:spcAft>
                <a:spcPts val="0"/>
              </a:spcAft>
              <a:buSzPct val="100000"/>
              <a:buAutoNum type="arabicPeriod"/>
            </a:pPr>
            <a:r>
              <a:rPr b="1" lang="en" sz="1800" u="sng"/>
              <a:t>Future Improvement</a:t>
            </a:r>
            <a:endParaRPr b="1" sz="1800" u="sng"/>
          </a:p>
          <a:p>
            <a:pPr indent="-293211" lvl="1" marL="914400" rtl="0" algn="l">
              <a:lnSpc>
                <a:spcPct val="115000"/>
              </a:lnSpc>
              <a:spcBef>
                <a:spcPts val="0"/>
              </a:spcBef>
              <a:spcAft>
                <a:spcPts val="0"/>
              </a:spcAft>
              <a:buSzPct val="100000"/>
              <a:buAutoNum type="alphaLcPeriod"/>
            </a:pPr>
            <a:r>
              <a:rPr lang="en"/>
              <a:t>Improve accuracy of the model by using larger dataset (ex: complete Cityscape dataset)</a:t>
            </a:r>
            <a:endParaRPr/>
          </a:p>
          <a:p>
            <a:pPr indent="-293211" lvl="1" marL="914400" rtl="0" algn="l">
              <a:lnSpc>
                <a:spcPct val="115000"/>
              </a:lnSpc>
              <a:spcBef>
                <a:spcPts val="0"/>
              </a:spcBef>
              <a:spcAft>
                <a:spcPts val="0"/>
              </a:spcAft>
              <a:buSzPct val="100000"/>
              <a:buAutoNum type="alphaLcPeriod"/>
            </a:pPr>
            <a:r>
              <a:rPr lang="en"/>
              <a:t>Experiment with other architectures (U-Net + PreEncoders, YOLO, Detectron2, DeepLabv2)</a:t>
            </a:r>
            <a:endParaRPr/>
          </a:p>
          <a:p>
            <a:pPr indent="-293211" lvl="1" marL="914400" rtl="0" algn="l">
              <a:lnSpc>
                <a:spcPct val="115000"/>
              </a:lnSpc>
              <a:spcBef>
                <a:spcPts val="0"/>
              </a:spcBef>
              <a:spcAft>
                <a:spcPts val="0"/>
              </a:spcAft>
              <a:buSzPct val="100000"/>
              <a:buAutoNum type="alphaLcPeriod"/>
            </a:pPr>
            <a:r>
              <a:rPr lang="en"/>
              <a:t>Experiment with </a:t>
            </a:r>
            <a:r>
              <a:rPr lang="en"/>
              <a:t>image augmentation, learning rate scheduler and other hyperparameters during training to improve the model accuracy</a:t>
            </a:r>
            <a:endParaRPr/>
          </a:p>
          <a:p>
            <a:pPr indent="0" lvl="0" marL="914400" rtl="0" algn="l">
              <a:lnSpc>
                <a:spcPct val="115000"/>
              </a:lnSpc>
              <a:spcBef>
                <a:spcPts val="0"/>
              </a:spcBef>
              <a:spcAft>
                <a:spcPts val="0"/>
              </a:spcAft>
              <a:buNone/>
            </a:pPr>
            <a:r>
              <a:t/>
            </a:r>
            <a:endParaRPr/>
          </a:p>
        </p:txBody>
      </p:sp>
      <p:pic>
        <p:nvPicPr>
          <p:cNvPr id="469" name="Google Shape;469;p11" title="conclusion.png"/>
          <p:cNvPicPr preferRelativeResize="0"/>
          <p:nvPr/>
        </p:nvPicPr>
        <p:blipFill>
          <a:blip r:embed="rId3">
            <a:alphaModFix/>
          </a:blip>
          <a:stretch>
            <a:fillRect/>
          </a:stretch>
        </p:blipFill>
        <p:spPr>
          <a:xfrm>
            <a:off x="304800" y="1676400"/>
            <a:ext cx="1049850" cy="1049850"/>
          </a:xfrm>
          <a:prstGeom prst="rect">
            <a:avLst/>
          </a:prstGeom>
          <a:noFill/>
          <a:ln>
            <a:noFill/>
          </a:ln>
        </p:spPr>
      </p:pic>
      <p:pic>
        <p:nvPicPr>
          <p:cNvPr id="470" name="Google Shape;470;p11" title="continuous-improvement.png"/>
          <p:cNvPicPr preferRelativeResize="0"/>
          <p:nvPr/>
        </p:nvPicPr>
        <p:blipFill>
          <a:blip r:embed="rId4">
            <a:alphaModFix/>
          </a:blip>
          <a:stretch>
            <a:fillRect/>
          </a:stretch>
        </p:blipFill>
        <p:spPr>
          <a:xfrm>
            <a:off x="142875" y="3009900"/>
            <a:ext cx="1211775" cy="1211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